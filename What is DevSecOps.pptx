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9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0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5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8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3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76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5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0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5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A64F9-0AD6-4AAD-9873-82A39F15102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7E0D4-E086-4D51-A2C7-717AA15EB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7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1603521"/>
            <a:ext cx="9144000" cy="1341175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DevSecOps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4850" y="7781548"/>
            <a:ext cx="3555378" cy="14771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1028" name="Picture 4" descr="DevSecOps in Practice: Embedding Security in CI/CD Pipelines | b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876" y="3237501"/>
            <a:ext cx="5184927" cy="327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 illustration of the loop process is Dev Sec Ops infographic presentation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18" y="3374968"/>
            <a:ext cx="583811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58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</a:t>
            </a:r>
            <a:b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9467" y="2930999"/>
            <a:ext cx="112268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DevSecOps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stands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+ Security +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modern software engineering approach where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is integrated into every phase of the DevOps lifecycle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rather than being added at the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→ Test → Deploy →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security review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DevSecOps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promotes: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→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while building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Test securely → Deploy securely → Monitor continuously</a:t>
            </a:r>
          </a:p>
        </p:txBody>
      </p:sp>
    </p:spTree>
    <p:extLst>
      <p:ext uri="{BB962C8B-B14F-4D97-AF65-F5344CB8AC3E}">
        <p14:creationId xmlns:p14="http://schemas.microsoft.com/office/powerpoint/2010/main" val="364345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Evolution: From DevOps to </a:t>
            </a:r>
            <a:r>
              <a:rPr lang="en-US" dirty="0" err="1" smtClean="0"/>
              <a:t>DevSecOps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Traditional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DevSecOps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 at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Manual security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Automated CI/CD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Automated security in CI/CD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Siloed teams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 + Ops 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 + Sec + Ops collaboration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17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DevSecOps</a:t>
            </a:r>
            <a:r>
              <a:rPr lang="en-US" dirty="0" smtClean="0"/>
              <a:t> Lifecycle (End-to-End)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1️⃣   Plan</a:t>
            </a:r>
          </a:p>
          <a:p>
            <a:r>
              <a:rPr lang="en-US" dirty="0" smtClean="0"/>
              <a:t>Threat modeling</a:t>
            </a:r>
          </a:p>
          <a:p>
            <a:r>
              <a:rPr lang="en-US" dirty="0" smtClean="0"/>
              <a:t>Security requirements</a:t>
            </a:r>
          </a:p>
          <a:p>
            <a:r>
              <a:rPr lang="en-US" dirty="0" smtClean="0"/>
              <a:t>Compliance mapping (ISO, SOC2, PCI, etc.)</a:t>
            </a:r>
          </a:p>
          <a:p>
            <a:r>
              <a:rPr lang="en-US" b="1" dirty="0" smtClean="0"/>
              <a:t>2️⃣   Develop</a:t>
            </a:r>
          </a:p>
          <a:p>
            <a:r>
              <a:rPr lang="en-US" dirty="0" smtClean="0"/>
              <a:t>Secure coding practices</a:t>
            </a:r>
          </a:p>
          <a:p>
            <a:r>
              <a:rPr lang="en-US" dirty="0" smtClean="0"/>
              <a:t>Code reviews</a:t>
            </a:r>
          </a:p>
          <a:p>
            <a:r>
              <a:rPr lang="en-US" dirty="0" smtClean="0"/>
              <a:t>SAST (Static Application Security Testing)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331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386" y="1750810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3️⃣   Build</a:t>
            </a:r>
          </a:p>
          <a:p>
            <a:r>
              <a:rPr lang="en-US" dirty="0" smtClean="0"/>
              <a:t>Dependency scanning</a:t>
            </a:r>
          </a:p>
          <a:p>
            <a:r>
              <a:rPr lang="en-US" dirty="0" smtClean="0"/>
              <a:t>SBOM generation</a:t>
            </a:r>
          </a:p>
          <a:p>
            <a:r>
              <a:rPr lang="en-US" dirty="0" smtClean="0"/>
              <a:t>Container image scanning</a:t>
            </a:r>
          </a:p>
          <a:p>
            <a:r>
              <a:rPr lang="en-US" b="1" dirty="0" smtClean="0"/>
              <a:t>4️⃣   Test</a:t>
            </a:r>
          </a:p>
          <a:p>
            <a:r>
              <a:rPr lang="en-US" dirty="0" smtClean="0"/>
              <a:t>DAST (Dynamic testing)</a:t>
            </a:r>
          </a:p>
          <a:p>
            <a:r>
              <a:rPr lang="en-US" dirty="0" smtClean="0"/>
              <a:t>API security testing</a:t>
            </a:r>
          </a:p>
          <a:p>
            <a:r>
              <a:rPr lang="en-US" dirty="0" smtClean="0"/>
              <a:t>IAST (Interactive testing)</a:t>
            </a:r>
          </a:p>
          <a:p>
            <a:r>
              <a:rPr lang="en-US" b="1" dirty="0" smtClean="0"/>
              <a:t>5️⃣   Release</a:t>
            </a:r>
          </a:p>
          <a:p>
            <a:r>
              <a:rPr lang="en-US" dirty="0" smtClean="0"/>
              <a:t>Image signing</a:t>
            </a:r>
          </a:p>
          <a:p>
            <a:r>
              <a:rPr lang="en-US" dirty="0" smtClean="0"/>
              <a:t>Policy enforcement</a:t>
            </a:r>
          </a:p>
          <a:p>
            <a:r>
              <a:rPr lang="en-US" dirty="0" smtClean="0"/>
              <a:t>Secure artifact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53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6️⃣   Deploy</a:t>
            </a:r>
          </a:p>
          <a:p>
            <a:r>
              <a:rPr lang="en-US" dirty="0" smtClean="0"/>
              <a:t>Infrastructure as Code (</a:t>
            </a:r>
            <a:r>
              <a:rPr lang="en-US" dirty="0" err="1" smtClean="0"/>
              <a:t>IaC</a:t>
            </a:r>
            <a:r>
              <a:rPr lang="en-US" dirty="0" smtClean="0"/>
              <a:t>) scanning</a:t>
            </a:r>
          </a:p>
          <a:p>
            <a:r>
              <a:rPr lang="en-US" dirty="0" smtClean="0"/>
              <a:t>Kubernetes security controls</a:t>
            </a:r>
          </a:p>
          <a:p>
            <a:r>
              <a:rPr lang="en-US" dirty="0" smtClean="0"/>
              <a:t>Secrets management</a:t>
            </a:r>
          </a:p>
          <a:p>
            <a:r>
              <a:rPr lang="en-US" b="1" dirty="0" smtClean="0"/>
              <a:t>7️⃣   Operate &amp; Monitor</a:t>
            </a:r>
          </a:p>
          <a:p>
            <a:r>
              <a:rPr lang="en-US" dirty="0" smtClean="0"/>
              <a:t>Runtime security monitoring</a:t>
            </a:r>
          </a:p>
          <a:p>
            <a:r>
              <a:rPr lang="en-US" dirty="0" smtClean="0"/>
              <a:t>Log analysis</a:t>
            </a:r>
          </a:p>
          <a:p>
            <a:r>
              <a:rPr lang="en-US" dirty="0" smtClean="0"/>
              <a:t>Incident response</a:t>
            </a:r>
          </a:p>
          <a:p>
            <a:r>
              <a:rPr lang="en-US" dirty="0" smtClean="0"/>
              <a:t>Continuous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96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</a:t>
            </a:r>
            <a:r>
              <a:rPr lang="en-US" dirty="0" err="1" smtClean="0"/>
              <a:t>DevSecOps</a:t>
            </a:r>
            <a:r>
              <a:rPr lang="en-US" dirty="0" smtClean="0"/>
              <a:t>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Automated Security Testing</a:t>
            </a:r>
          </a:p>
          <a:p>
            <a:r>
              <a:rPr lang="en-US" b="1" dirty="0" smtClean="0"/>
              <a:t>SAST</a:t>
            </a:r>
            <a:r>
              <a:rPr lang="en-US" dirty="0" smtClean="0"/>
              <a:t> – Scan source code</a:t>
            </a:r>
          </a:p>
          <a:p>
            <a:r>
              <a:rPr lang="en-US" b="1" dirty="0" smtClean="0"/>
              <a:t>DAST</a:t>
            </a:r>
            <a:r>
              <a:rPr lang="en-US" dirty="0" smtClean="0"/>
              <a:t> – Scan running apps</a:t>
            </a:r>
          </a:p>
          <a:p>
            <a:r>
              <a:rPr lang="en-US" b="1" dirty="0" smtClean="0"/>
              <a:t>SCA</a:t>
            </a:r>
            <a:r>
              <a:rPr lang="en-US" dirty="0" smtClean="0"/>
              <a:t> – Scan open-source dependencies</a:t>
            </a:r>
          </a:p>
          <a:p>
            <a:r>
              <a:rPr lang="en-US" b="1" dirty="0" err="1" smtClean="0"/>
              <a:t>IaC</a:t>
            </a:r>
            <a:r>
              <a:rPr lang="en-US" b="1" dirty="0" smtClean="0"/>
              <a:t> Scanning</a:t>
            </a:r>
            <a:r>
              <a:rPr lang="en-US" dirty="0" smtClean="0"/>
              <a:t> – Detect misconfigurations</a:t>
            </a:r>
          </a:p>
          <a:p>
            <a:r>
              <a:rPr lang="en-US" b="1" dirty="0" smtClean="0"/>
              <a:t>Container Scanning</a:t>
            </a:r>
            <a:r>
              <a:rPr lang="en-US" dirty="0" smtClean="0"/>
              <a:t> – Detect vulnerabilities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9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Secrets Management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hardcoding secrets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vault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Rotate credentials automatically</a:t>
            </a:r>
          </a:p>
        </p:txBody>
      </p:sp>
    </p:spTree>
    <p:extLst>
      <p:ext uri="{BB962C8B-B14F-4D97-AF65-F5344CB8AC3E}">
        <p14:creationId xmlns:p14="http://schemas.microsoft.com/office/powerpoint/2010/main" val="272751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Policy as Code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policies written in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enforced in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Prevent public S3 buckets</a:t>
            </a:r>
          </a:p>
        </p:txBody>
      </p:sp>
    </p:spTree>
    <p:extLst>
      <p:ext uri="{BB962C8B-B14F-4D97-AF65-F5344CB8AC3E}">
        <p14:creationId xmlns:p14="http://schemas.microsoft.com/office/powerpoint/2010/main" val="318350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Container &amp; Kubernetes Security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base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Non-root containers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RBAC controls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policies</a:t>
            </a:r>
          </a:p>
        </p:txBody>
      </p:sp>
    </p:spTree>
    <p:extLst>
      <p:ext uri="{BB962C8B-B14F-4D97-AF65-F5344CB8AC3E}">
        <p14:creationId xmlns:p14="http://schemas.microsoft.com/office/powerpoint/2010/main" val="77106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Supply Chain Security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SBOM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Artifact signing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 Trust pipelines</a:t>
            </a:r>
          </a:p>
        </p:txBody>
      </p:sp>
    </p:spTree>
    <p:extLst>
      <p:ext uri="{BB962C8B-B14F-4D97-AF65-F5344CB8AC3E}">
        <p14:creationId xmlns:p14="http://schemas.microsoft.com/office/powerpoint/2010/main" val="3253859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Principles of </a:t>
            </a:r>
            <a:r>
              <a:rPr lang="en-US" dirty="0" err="1" smtClean="0"/>
              <a:t>DevSecOps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Shift Left Security</a:t>
            </a:r>
            <a:endParaRPr lang="en-US" dirty="0" smtClean="0"/>
          </a:p>
          <a:p>
            <a:r>
              <a:rPr lang="en-US" b="1" dirty="0" smtClean="0"/>
              <a:t>Automation First</a:t>
            </a:r>
            <a:endParaRPr lang="en-US" dirty="0" smtClean="0"/>
          </a:p>
          <a:p>
            <a:r>
              <a:rPr lang="en-US" b="1" dirty="0" smtClean="0"/>
              <a:t>Continuous Monitoring</a:t>
            </a:r>
            <a:endParaRPr lang="en-US" dirty="0" smtClean="0"/>
          </a:p>
          <a:p>
            <a:r>
              <a:rPr lang="en-US" b="1" dirty="0" smtClean="0"/>
              <a:t>Least Privilege Access</a:t>
            </a:r>
            <a:endParaRPr lang="en-US" dirty="0" smtClean="0"/>
          </a:p>
          <a:p>
            <a:r>
              <a:rPr lang="en-US" b="1" dirty="0" smtClean="0"/>
              <a:t>Zero Trust Architecture</a:t>
            </a:r>
            <a:endParaRPr lang="en-US" dirty="0" smtClean="0"/>
          </a:p>
          <a:p>
            <a:r>
              <a:rPr lang="en-US" b="1" dirty="0" smtClean="0"/>
              <a:t>Compliance as Code</a:t>
            </a:r>
            <a:endParaRPr lang="en-US" dirty="0" smtClean="0"/>
          </a:p>
          <a:p>
            <a:r>
              <a:rPr lang="en-US" b="1" dirty="0" smtClean="0"/>
              <a:t>Shared Responsibility Culture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21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DevSecOps</a:t>
            </a:r>
            <a:r>
              <a:rPr lang="en-US" dirty="0" smtClean="0"/>
              <a:t> is Important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Faster secure releases</a:t>
            </a:r>
          </a:p>
          <a:p>
            <a:r>
              <a:rPr lang="en-US" b="1" dirty="0" smtClean="0"/>
              <a:t>✅ Reduced vulnerability cost (fix early = cheaper)</a:t>
            </a:r>
          </a:p>
          <a:p>
            <a:r>
              <a:rPr lang="en-US" b="1" dirty="0" smtClean="0"/>
              <a:t>✅ Better compliance readiness</a:t>
            </a:r>
          </a:p>
          <a:p>
            <a:r>
              <a:rPr lang="en-US" b="1" dirty="0" smtClean="0"/>
              <a:t>✅ Lower breach risk</a:t>
            </a:r>
          </a:p>
          <a:p>
            <a:r>
              <a:rPr lang="en-US" b="1" dirty="0" smtClean="0"/>
              <a:t>✅ Stronger software supply chain</a:t>
            </a:r>
          </a:p>
          <a:p>
            <a:r>
              <a:rPr lang="en-US" dirty="0" smtClean="0"/>
              <a:t>A vulnerability fixed during development costs </a:t>
            </a:r>
            <a:r>
              <a:rPr lang="en-US" b="1" dirty="0" smtClean="0"/>
              <a:t>10x–100x less</a:t>
            </a:r>
            <a:r>
              <a:rPr lang="en-US" dirty="0" smtClean="0"/>
              <a:t> than fixing it in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92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DevOps vs </a:t>
            </a:r>
            <a:r>
              <a:rPr lang="en-US" dirty="0" err="1" smtClean="0"/>
              <a:t>DevSecOps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DevSecOps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Speed &amp;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Speed +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Separate team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Embedded in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Functional +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 + threat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216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Imagine building a cloud-native application:</a:t>
            </a:r>
          </a:p>
          <a:p>
            <a:r>
              <a:rPr lang="en-US" dirty="0" smtClean="0"/>
              <a:t>Without </a:t>
            </a:r>
            <a:r>
              <a:rPr lang="en-US" dirty="0" err="1" smtClean="0"/>
              <a:t>DevSecOps</a:t>
            </a:r>
            <a:r>
              <a:rPr lang="en-US" dirty="0" smtClean="0"/>
              <a:t>:</a:t>
            </a:r>
          </a:p>
          <a:p>
            <a:r>
              <a:rPr lang="en-US" dirty="0" smtClean="0"/>
              <a:t>Developers code</a:t>
            </a:r>
          </a:p>
          <a:p>
            <a:r>
              <a:rPr lang="en-US" dirty="0" smtClean="0"/>
              <a:t>Security team scans before production</a:t>
            </a:r>
          </a:p>
          <a:p>
            <a:r>
              <a:rPr lang="en-US" dirty="0" smtClean="0"/>
              <a:t>Major vulnerabilities found</a:t>
            </a:r>
          </a:p>
          <a:p>
            <a:r>
              <a:rPr lang="en-US" dirty="0" smtClean="0"/>
              <a:t>Release delayed</a:t>
            </a:r>
          </a:p>
          <a:p>
            <a:r>
              <a:rPr lang="en-US" dirty="0" smtClean="0"/>
              <a:t>With </a:t>
            </a:r>
            <a:r>
              <a:rPr lang="en-US" dirty="0" err="1" smtClean="0"/>
              <a:t>DevSecOps</a:t>
            </a:r>
            <a:r>
              <a:rPr lang="en-US" dirty="0" smtClean="0"/>
              <a:t>:</a:t>
            </a:r>
          </a:p>
          <a:p>
            <a:r>
              <a:rPr lang="en-US" dirty="0" smtClean="0"/>
              <a:t>Code automatically scanned during commit</a:t>
            </a:r>
          </a:p>
          <a:p>
            <a:r>
              <a:rPr lang="en-US" dirty="0" smtClean="0"/>
              <a:t>Container scanned at build</a:t>
            </a:r>
          </a:p>
          <a:p>
            <a:r>
              <a:rPr lang="en-US" dirty="0" err="1" smtClean="0"/>
              <a:t>IaC</a:t>
            </a:r>
            <a:r>
              <a:rPr lang="en-US" dirty="0" smtClean="0"/>
              <a:t> scanned before deployment</a:t>
            </a:r>
          </a:p>
          <a:p>
            <a:r>
              <a:rPr lang="en-US" dirty="0" smtClean="0"/>
              <a:t>Policies enforced automatically</a:t>
            </a:r>
          </a:p>
          <a:p>
            <a:r>
              <a:rPr lang="en-US" dirty="0" smtClean="0"/>
              <a:t>Deployment happens securely &amp; faster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02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Impact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DevSecOps is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just tools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it's a mindset: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“Everyone is responsible for security.”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write secure code.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Operations ensure hardened infrastructure.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teams build automated guardrails.</a:t>
            </a:r>
          </a:p>
        </p:txBody>
      </p:sp>
    </p:spTree>
    <p:extLst>
      <p:ext uri="{BB962C8B-B14F-4D97-AF65-F5344CB8AC3E}">
        <p14:creationId xmlns:p14="http://schemas.microsoft.com/office/powerpoint/2010/main" val="339672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 One Sentence</a:t>
            </a:r>
          </a:p>
          <a:p>
            <a:r>
              <a:rPr lang="en-US" b="1" dirty="0" err="1" smtClean="0"/>
              <a:t>DevSecOps</a:t>
            </a:r>
            <a:r>
              <a:rPr lang="en-US" b="1" dirty="0" smtClean="0"/>
              <a:t> is the practice of integrating security as a shared responsibility, automated and embedded throughout the entire software development lifecycle.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756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err="1" smtClean="0"/>
              <a:t>DevSecOps</a:t>
            </a:r>
            <a:r>
              <a:rPr lang="en-US" sz="2000" dirty="0" smtClean="0"/>
              <a:t> Architecture</a:t>
            </a:r>
            <a:br>
              <a:rPr lang="en-US" sz="2000" dirty="0" smtClean="0"/>
            </a:br>
            <a:r>
              <a:rPr lang="en-US" sz="2000" dirty="0" smtClean="0"/>
              <a:t>A </a:t>
            </a:r>
            <a:r>
              <a:rPr lang="en-US" sz="2000" b="1" dirty="0" err="1" smtClean="0"/>
              <a:t>DevSecOps</a:t>
            </a:r>
            <a:r>
              <a:rPr lang="en-US" sz="2000" b="1" dirty="0" smtClean="0"/>
              <a:t> architecture</a:t>
            </a:r>
            <a:r>
              <a:rPr lang="en-US" sz="2000" dirty="0" smtClean="0"/>
              <a:t> shows how security controls are embedded across the entire software delivery pipeline — from planning to runtime monitoring.</a:t>
            </a:r>
            <a:br>
              <a:rPr lang="en-US" sz="2000" dirty="0" smtClean="0"/>
            </a:br>
            <a:r>
              <a:rPr lang="en-US" sz="2000" dirty="0" smtClean="0"/>
              <a:t>Let’s break it down layer by layer.</a:t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10242" name="Picture 2" descr="Vector illustration of DevSecOps methodology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409" y="1825625"/>
            <a:ext cx="543718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661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High-Level Architecture Layers</a:t>
            </a:r>
          </a:p>
          <a:p>
            <a:r>
              <a:rPr lang="en-US" dirty="0" smtClean="0"/>
              <a:t>A typical </a:t>
            </a:r>
            <a:r>
              <a:rPr lang="en-US" dirty="0" err="1" smtClean="0"/>
              <a:t>DevSecOps</a:t>
            </a:r>
            <a:r>
              <a:rPr lang="en-US" dirty="0" smtClean="0"/>
              <a:t> architecture has </a:t>
            </a:r>
            <a:r>
              <a:rPr lang="en-US" b="1" dirty="0" smtClean="0"/>
              <a:t>6 main layers</a:t>
            </a:r>
            <a:r>
              <a:rPr lang="en-US" dirty="0" smtClean="0"/>
              <a:t>:</a:t>
            </a:r>
          </a:p>
          <a:p>
            <a:r>
              <a:rPr lang="en-US" b="1" dirty="0" smtClean="0"/>
              <a:t>Source Control Layer</a:t>
            </a:r>
            <a:endParaRPr lang="en-US" dirty="0" smtClean="0"/>
          </a:p>
          <a:p>
            <a:r>
              <a:rPr lang="en-US" b="1" dirty="0" smtClean="0"/>
              <a:t>CI (Build &amp; Test) Layer</a:t>
            </a:r>
            <a:endParaRPr lang="en-US" dirty="0" smtClean="0"/>
          </a:p>
          <a:p>
            <a:r>
              <a:rPr lang="en-US" b="1" dirty="0" smtClean="0"/>
              <a:t>Artifact &amp; Registry Layer</a:t>
            </a:r>
            <a:endParaRPr lang="en-US" dirty="0" smtClean="0"/>
          </a:p>
          <a:p>
            <a:r>
              <a:rPr lang="en-US" b="1" dirty="0" smtClean="0"/>
              <a:t>CD / Deployment Layer</a:t>
            </a:r>
            <a:endParaRPr lang="en-US" dirty="0" smtClean="0"/>
          </a:p>
          <a:p>
            <a:r>
              <a:rPr lang="en-US" b="1" dirty="0" smtClean="0"/>
              <a:t>Infrastructure Layer</a:t>
            </a:r>
            <a:endParaRPr lang="en-US" dirty="0" smtClean="0"/>
          </a:p>
          <a:p>
            <a:r>
              <a:rPr lang="en-US" b="1" dirty="0" smtClean="0"/>
              <a:t>Monitoring &amp; Runtime Security Layer</a:t>
            </a:r>
            <a:endParaRPr lang="en-US" dirty="0" smtClean="0"/>
          </a:p>
          <a:p>
            <a:r>
              <a:rPr lang="en-US" dirty="0" smtClean="0"/>
              <a:t>Each layer contains automated security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02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2️⃣   Component-by-Component Explanation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1. Source Code Management (SCM)</a:t>
            </a:r>
          </a:p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GitHub</a:t>
            </a:r>
          </a:p>
          <a:p>
            <a:r>
              <a:rPr lang="en-US" dirty="0" err="1" smtClean="0"/>
              <a:t>GitLab</a:t>
            </a:r>
            <a:endParaRPr lang="en-US" dirty="0" smtClean="0"/>
          </a:p>
          <a:p>
            <a:r>
              <a:rPr lang="en-US" dirty="0" err="1" smtClean="0"/>
              <a:t>Bitbucket</a:t>
            </a:r>
            <a:endParaRPr lang="en-US" dirty="0" smtClean="0"/>
          </a:p>
          <a:p>
            <a:r>
              <a:rPr lang="en-US" b="1" dirty="0" smtClean="0"/>
              <a:t>Security Controls Here:</a:t>
            </a:r>
          </a:p>
          <a:p>
            <a:r>
              <a:rPr lang="en-US" dirty="0" smtClean="0"/>
              <a:t>Branch protection rules</a:t>
            </a:r>
          </a:p>
          <a:p>
            <a:r>
              <a:rPr lang="en-US" dirty="0" smtClean="0"/>
              <a:t>Signed commits</a:t>
            </a:r>
          </a:p>
          <a:p>
            <a:r>
              <a:rPr lang="en-US" dirty="0" smtClean="0"/>
              <a:t>Secret scanning</a:t>
            </a:r>
          </a:p>
          <a:p>
            <a:r>
              <a:rPr lang="en-US" dirty="0" smtClean="0"/>
              <a:t>Code review enforcement</a:t>
            </a:r>
          </a:p>
          <a:p>
            <a:r>
              <a:rPr lang="en-US" dirty="0" smtClean="0"/>
              <a:t>Pre-commit hooks</a:t>
            </a:r>
          </a:p>
          <a:p>
            <a:r>
              <a:rPr lang="en-US" dirty="0" smtClean="0"/>
              <a:t>🔐 Security starts at the first commit.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504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2. Continuous Integration (CI)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GitHub Actions</a:t>
            </a:r>
          </a:p>
          <a:p>
            <a:r>
              <a:rPr lang="en-US" dirty="0" smtClean="0"/>
              <a:t>Jenkins</a:t>
            </a:r>
          </a:p>
          <a:p>
            <a:r>
              <a:rPr lang="en-US" dirty="0" err="1" smtClean="0"/>
              <a:t>GitLab</a:t>
            </a:r>
            <a:r>
              <a:rPr lang="en-US" dirty="0" smtClean="0"/>
              <a:t> CI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429046"/>
              </p:ext>
            </p:extLst>
          </p:nvPr>
        </p:nvGraphicFramePr>
        <p:xfrm>
          <a:off x="838200" y="3859978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Scan 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Scan dependencies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Secret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Detect exposed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License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Open-source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SBOM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Dependency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54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Artifact Repository / Container Registry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Docker Hub</a:t>
            </a:r>
          </a:p>
          <a:p>
            <a:r>
              <a:rPr lang="en-US" dirty="0" err="1" smtClean="0"/>
              <a:t>JFrog</a:t>
            </a:r>
            <a:r>
              <a:rPr lang="en-US" dirty="0" smtClean="0"/>
              <a:t> </a:t>
            </a:r>
            <a:r>
              <a:rPr lang="en-US" dirty="0" err="1" smtClean="0"/>
              <a:t>Artifactory</a:t>
            </a:r>
            <a:endParaRPr lang="en-US" dirty="0" smtClean="0"/>
          </a:p>
          <a:p>
            <a:r>
              <a:rPr lang="en-US" dirty="0" smtClean="0"/>
              <a:t>Amazon ECR</a:t>
            </a:r>
          </a:p>
          <a:p>
            <a:r>
              <a:rPr lang="en-US" b="1" dirty="0" smtClean="0"/>
              <a:t>Security Controls:</a:t>
            </a:r>
          </a:p>
          <a:p>
            <a:r>
              <a:rPr lang="en-US" dirty="0" smtClean="0"/>
              <a:t>Image vulnerability scanning</a:t>
            </a:r>
          </a:p>
          <a:p>
            <a:r>
              <a:rPr lang="en-US" dirty="0" smtClean="0"/>
              <a:t>Artifact signing</a:t>
            </a:r>
          </a:p>
          <a:p>
            <a:r>
              <a:rPr lang="en-US" dirty="0" smtClean="0"/>
              <a:t>Provenance tracking</a:t>
            </a:r>
          </a:p>
          <a:p>
            <a:r>
              <a:rPr lang="en-US" dirty="0" smtClean="0"/>
              <a:t>Immutable artifacts</a:t>
            </a:r>
          </a:p>
          <a:p>
            <a:r>
              <a:rPr lang="en-US" dirty="0" smtClean="0"/>
              <a:t>This protects the </a:t>
            </a:r>
            <a:r>
              <a:rPr lang="en-US" b="1" dirty="0" smtClean="0"/>
              <a:t>software supply chain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484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Continuous Deployment (CD)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Argo CD</a:t>
            </a:r>
          </a:p>
          <a:p>
            <a:r>
              <a:rPr lang="en-US" dirty="0" smtClean="0"/>
              <a:t>Flux CD</a:t>
            </a:r>
          </a:p>
          <a:p>
            <a:r>
              <a:rPr lang="en-US" dirty="0" smtClean="0"/>
              <a:t>Spinnaker</a:t>
            </a:r>
          </a:p>
          <a:p>
            <a:r>
              <a:rPr lang="en-US" b="1" dirty="0" smtClean="0"/>
              <a:t>Security at Deployment:</a:t>
            </a:r>
          </a:p>
          <a:p>
            <a:r>
              <a:rPr lang="en-US" dirty="0" smtClean="0"/>
              <a:t>Policy-as-Code enforcement</a:t>
            </a:r>
          </a:p>
          <a:p>
            <a:r>
              <a:rPr lang="en-US" dirty="0" smtClean="0"/>
              <a:t>Infrastructure scanning</a:t>
            </a:r>
          </a:p>
          <a:p>
            <a:r>
              <a:rPr lang="en-US" dirty="0" smtClean="0"/>
              <a:t>Image signature verification</a:t>
            </a:r>
          </a:p>
          <a:p>
            <a:r>
              <a:rPr lang="en-US" dirty="0" smtClean="0"/>
              <a:t>Admission controllers</a:t>
            </a:r>
          </a:p>
          <a:p>
            <a:r>
              <a:rPr lang="en-US" dirty="0" smtClean="0"/>
              <a:t>Secrets injection from vault</a:t>
            </a:r>
          </a:p>
          <a:p>
            <a:r>
              <a:rPr lang="en-US" dirty="0" smtClean="0"/>
              <a:t>Only secure and approved artifacts reach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4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Infrastructure Layer (Cloud / Kubernetes)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Kubernetes</a:t>
            </a:r>
          </a:p>
          <a:p>
            <a:r>
              <a:rPr lang="en-US" dirty="0" smtClean="0"/>
              <a:t>Amazon Web Services</a:t>
            </a:r>
          </a:p>
          <a:p>
            <a:r>
              <a:rPr lang="en-US" dirty="0" smtClean="0"/>
              <a:t>Microsoft Azure</a:t>
            </a:r>
          </a:p>
          <a:p>
            <a:r>
              <a:rPr lang="en-US" b="1" dirty="0" smtClean="0"/>
              <a:t>Security Controls:</a:t>
            </a:r>
          </a:p>
          <a:p>
            <a:r>
              <a:rPr lang="en-US" dirty="0" smtClean="0"/>
              <a:t>RBAC (Role-Based Access Control)</a:t>
            </a:r>
          </a:p>
          <a:p>
            <a:r>
              <a:rPr lang="en-US" dirty="0" smtClean="0"/>
              <a:t>Network policies</a:t>
            </a:r>
          </a:p>
          <a:p>
            <a:r>
              <a:rPr lang="en-US" dirty="0" smtClean="0"/>
              <a:t>Pod security standards</a:t>
            </a:r>
          </a:p>
          <a:p>
            <a:r>
              <a:rPr lang="en-US" dirty="0" smtClean="0"/>
              <a:t>Runtime isolation</a:t>
            </a:r>
          </a:p>
          <a:p>
            <a:r>
              <a:rPr lang="en-US" dirty="0" smtClean="0"/>
              <a:t>Infrastructure as Code scanning</a:t>
            </a:r>
          </a:p>
          <a:p>
            <a:r>
              <a:rPr lang="en-US" dirty="0" smtClean="0"/>
              <a:t>Infrastructure must be secure </a:t>
            </a:r>
            <a:r>
              <a:rPr lang="en-US" b="1" dirty="0" smtClean="0"/>
              <a:t>by design</a:t>
            </a:r>
            <a:r>
              <a:rPr lang="en-US" dirty="0" smtClean="0"/>
              <a:t>, not manually configured.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89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Runtime Monitoring &amp;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Examples:</a:t>
            </a:r>
            <a:endParaRPr lang="en-US" dirty="0" smtClean="0"/>
          </a:p>
          <a:p>
            <a:r>
              <a:rPr lang="en-US" dirty="0" smtClean="0"/>
              <a:t>Falco</a:t>
            </a:r>
          </a:p>
          <a:p>
            <a:r>
              <a:rPr lang="en-US" dirty="0" smtClean="0"/>
              <a:t>Prometheus</a:t>
            </a:r>
          </a:p>
          <a:p>
            <a:r>
              <a:rPr lang="en-US" dirty="0" err="1" smtClean="0"/>
              <a:t>Grafana</a:t>
            </a:r>
            <a:endParaRPr lang="en-US" dirty="0" smtClean="0"/>
          </a:p>
          <a:p>
            <a:r>
              <a:rPr lang="en-US" b="1" dirty="0" smtClean="0"/>
              <a:t>Runtime Controls:</a:t>
            </a:r>
          </a:p>
          <a:p>
            <a:r>
              <a:rPr lang="en-US" dirty="0" smtClean="0"/>
              <a:t>Threat detection</a:t>
            </a:r>
          </a:p>
          <a:p>
            <a:r>
              <a:rPr lang="en-US" dirty="0" smtClean="0"/>
              <a:t>Log aggregation</a:t>
            </a:r>
          </a:p>
          <a:p>
            <a:r>
              <a:rPr lang="en-US" dirty="0" smtClean="0"/>
              <a:t>Behavioral anomaly detection</a:t>
            </a:r>
          </a:p>
          <a:p>
            <a:r>
              <a:rPr lang="en-US" dirty="0" smtClean="0"/>
              <a:t>Incident response automation</a:t>
            </a:r>
          </a:p>
          <a:p>
            <a:r>
              <a:rPr lang="en-US" dirty="0" smtClean="0"/>
              <a:t>Continuous compliance checks</a:t>
            </a:r>
          </a:p>
          <a:p>
            <a:r>
              <a:rPr lang="en-US" dirty="0" smtClean="0"/>
              <a:t>Security does not stop at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485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End-to-End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Developer Commit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SCM Security Controls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CI Pipeline (SAST + SCA + SBOM)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Build Secure Artifact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Image Scan + Sign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Push to Secure Registry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CD with Policy Enforcement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Secure Deployment (K8s / Cloud)</a:t>
            </a:r>
          </a:p>
          <a:p>
            <a:r>
              <a:rPr lang="en-US" dirty="0" smtClean="0"/>
              <a:t>      ↓</a:t>
            </a:r>
          </a:p>
          <a:p>
            <a:r>
              <a:rPr lang="en-US" dirty="0" smtClean="0"/>
              <a:t>Runtime Monitoring &amp; Alerting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066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Architectural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1️⃣   Shift Left Security</a:t>
            </a:r>
          </a:p>
          <a:p>
            <a:r>
              <a:rPr lang="en-US" dirty="0" smtClean="0"/>
              <a:t>Security begins at coding stage.</a:t>
            </a:r>
          </a:p>
          <a:p>
            <a:r>
              <a:rPr lang="en-US" b="1" dirty="0" smtClean="0"/>
              <a:t>2️⃣   Automation Everywhere</a:t>
            </a:r>
          </a:p>
          <a:p>
            <a:r>
              <a:rPr lang="en-US" dirty="0" smtClean="0"/>
              <a:t>No manual approval bottlenecks.</a:t>
            </a:r>
          </a:p>
          <a:p>
            <a:r>
              <a:rPr lang="en-US" b="1" dirty="0" smtClean="0"/>
              <a:t>3️⃣   Policy as Code</a:t>
            </a:r>
          </a:p>
          <a:p>
            <a:r>
              <a:rPr lang="en-US" dirty="0" smtClean="0"/>
              <a:t>Security rules are version-controlled.</a:t>
            </a:r>
          </a:p>
          <a:p>
            <a:r>
              <a:rPr lang="en-US" b="1" dirty="0" smtClean="0"/>
              <a:t>4️⃣   Immutable Infrastructure</a:t>
            </a:r>
          </a:p>
          <a:p>
            <a:r>
              <a:rPr lang="en-US" dirty="0" smtClean="0"/>
              <a:t>No patching production servers manually.</a:t>
            </a:r>
          </a:p>
          <a:p>
            <a:r>
              <a:rPr lang="en-US" b="1" dirty="0" smtClean="0"/>
              <a:t>5️⃣   Zero Trust</a:t>
            </a:r>
          </a:p>
          <a:p>
            <a:r>
              <a:rPr lang="en-US" dirty="0" smtClean="0"/>
              <a:t>Every component verifies identity and integrity.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38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complete </a:t>
            </a:r>
            <a:r>
              <a:rPr lang="en-US" dirty="0" err="1" smtClean="0"/>
              <a:t>DevSecOps</a:t>
            </a:r>
            <a:r>
              <a:rPr lang="en-US" dirty="0" smtClean="0"/>
              <a:t> architecture integrates: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Automated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Artifact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Supply chain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Deploy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Policy enforcement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Infra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Hardened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985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DevSecOps</a:t>
            </a:r>
            <a:r>
              <a:rPr lang="en-US" dirty="0" smtClean="0"/>
              <a:t> Governance Framework Template (Enterprise-Ready)</a:t>
            </a:r>
            <a:endParaRPr lang="en-US" dirty="0"/>
          </a:p>
        </p:txBody>
      </p:sp>
      <p:pic>
        <p:nvPicPr>
          <p:cNvPr id="13314" name="Picture 2" descr="Achieving EU AI Act Compliance by Integrating Governance as Code within  MLOps – Part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2219497"/>
            <a:ext cx="7735712" cy="419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023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template is designed for </a:t>
            </a:r>
            <a:r>
              <a:rPr lang="en-US" b="1" dirty="0" smtClean="0"/>
              <a:t>large enterprises</a:t>
            </a:r>
            <a:r>
              <a:rPr lang="en-US" dirty="0" smtClean="0"/>
              <a:t> implementing structured </a:t>
            </a:r>
            <a:r>
              <a:rPr lang="en-US" dirty="0" err="1" smtClean="0"/>
              <a:t>DevSecOps</a:t>
            </a:r>
            <a:r>
              <a:rPr lang="en-US" dirty="0" smtClean="0"/>
              <a:t> with compliance, auditability, and measurable risk control.</a:t>
            </a:r>
          </a:p>
          <a:p>
            <a:r>
              <a:rPr lang="en-US" dirty="0" smtClean="0"/>
              <a:t>You can directly adapt this into:</a:t>
            </a:r>
          </a:p>
          <a:p>
            <a:r>
              <a:rPr lang="en-US" dirty="0" smtClean="0"/>
              <a:t>Governance policy document</a:t>
            </a:r>
          </a:p>
          <a:p>
            <a:r>
              <a:rPr lang="en-US" dirty="0" smtClean="0"/>
              <a:t>Board-level security model</a:t>
            </a:r>
          </a:p>
          <a:p>
            <a:r>
              <a:rPr lang="en-US" dirty="0" smtClean="0"/>
              <a:t>Audit framework</a:t>
            </a:r>
          </a:p>
          <a:p>
            <a:r>
              <a:rPr lang="en-US" dirty="0" err="1" smtClean="0"/>
              <a:t>DevSecOps</a:t>
            </a:r>
            <a:r>
              <a:rPr lang="en-US" dirty="0" smtClean="0"/>
              <a:t> </a:t>
            </a:r>
            <a:r>
              <a:rPr lang="en-US" dirty="0" err="1" smtClean="0"/>
              <a:t>CoE</a:t>
            </a:r>
            <a:r>
              <a:rPr lang="en-US" dirty="0" smtClean="0"/>
              <a:t> charter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234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1️⃣   Governance Structure Overview</a:t>
            </a:r>
          </a:p>
          <a:p>
            <a:r>
              <a:rPr lang="en-US" b="1" dirty="0" smtClean="0"/>
              <a:t>🎯 Governance Objectives</a:t>
            </a:r>
          </a:p>
          <a:p>
            <a:r>
              <a:rPr lang="en-US" dirty="0" smtClean="0"/>
              <a:t>Embed security across SDLC</a:t>
            </a:r>
          </a:p>
          <a:p>
            <a:r>
              <a:rPr lang="en-US" dirty="0" smtClean="0"/>
              <a:t>Reduce enterprise risk exposure</a:t>
            </a:r>
          </a:p>
          <a:p>
            <a:r>
              <a:rPr lang="en-US" dirty="0" smtClean="0"/>
              <a:t>Ensure regulatory compliance</a:t>
            </a:r>
          </a:p>
          <a:p>
            <a:r>
              <a:rPr lang="en-US" dirty="0" smtClean="0"/>
              <a:t>Enable secure innovation at scale</a:t>
            </a:r>
          </a:p>
          <a:p>
            <a:r>
              <a:rPr lang="en-US" dirty="0" smtClean="0"/>
              <a:t>Provide measurable risk visibility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97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2️⃣   Governance Operating Model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949734"/>
          <a:ext cx="10515600" cy="210312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Strategic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 security vision &amp; risk appetite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CISO / CTO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Tactical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 policies &amp; standards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Operational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Enforce policies via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Platform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Assurance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Audit &amp; compliance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Audit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652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B. Three Lines of Defense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1️⃣   Engineering Teams (First Line)</a:t>
            </a:r>
            <a:br>
              <a:rPr lang="en-US" dirty="0" smtClean="0"/>
            </a:br>
            <a:r>
              <a:rPr lang="en-US" dirty="0" smtClean="0"/>
              <a:t>2️⃣   Security &amp; Risk (Second Line)</a:t>
            </a:r>
            <a:br>
              <a:rPr lang="en-US" dirty="0" smtClean="0"/>
            </a:br>
            <a:r>
              <a:rPr lang="en-US" dirty="0" smtClean="0"/>
              <a:t>3️⃣   Audit &amp; Compliance (Third Line)</a:t>
            </a:r>
          </a:p>
          <a:p>
            <a:r>
              <a:rPr lang="en-US" dirty="0" smtClean="0"/>
              <a:t>Security enforcement happens through automation — not manual approval.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63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3️ </a:t>
            </a:r>
            <a:r>
              <a:rPr lang="en-US" dirty="0" err="1" smtClean="0"/>
              <a:t>DevSecOps</a:t>
            </a:r>
            <a:r>
              <a:rPr lang="en-US" dirty="0" smtClean="0"/>
              <a:t> Policy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Secure SDLC Policy</a:t>
            </a:r>
          </a:p>
          <a:p>
            <a:r>
              <a:rPr lang="en-US" dirty="0" smtClean="0"/>
              <a:t>Defines:</a:t>
            </a:r>
          </a:p>
          <a:p>
            <a:r>
              <a:rPr lang="en-US" dirty="0" smtClean="0"/>
              <a:t>Secure coding standards</a:t>
            </a:r>
          </a:p>
          <a:p>
            <a:r>
              <a:rPr lang="en-US" dirty="0" smtClean="0"/>
              <a:t>Code review requirements</a:t>
            </a:r>
          </a:p>
          <a:p>
            <a:r>
              <a:rPr lang="en-US" dirty="0" smtClean="0"/>
              <a:t>Threat modeling mandate</a:t>
            </a:r>
          </a:p>
          <a:p>
            <a:r>
              <a:rPr lang="en-US" dirty="0" smtClean="0"/>
              <a:t>Security testing requirements</a:t>
            </a:r>
          </a:p>
          <a:p>
            <a:r>
              <a:rPr lang="en-US" dirty="0" smtClean="0"/>
              <a:t>Vulnerability remediation SLAs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950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CI/CD Security Policy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Mandatory controls: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SAST in every build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scanning (SCA)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Secret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SBOM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Artifact signing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gate enforcement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Policy Rule: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Block build if Critical vulnerability CVSS ≥ 9.0</a:t>
            </a:r>
          </a:p>
        </p:txBody>
      </p:sp>
    </p:spTree>
    <p:extLst>
      <p:ext uri="{BB962C8B-B14F-4D97-AF65-F5344CB8AC3E}">
        <p14:creationId xmlns:p14="http://schemas.microsoft.com/office/powerpoint/2010/main" val="42181894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Cloud &amp; Infrastructure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Applies to:</a:t>
            </a:r>
          </a:p>
          <a:p>
            <a:r>
              <a:rPr lang="en-US" dirty="0" smtClean="0"/>
              <a:t>Kubernetes</a:t>
            </a:r>
          </a:p>
          <a:p>
            <a:r>
              <a:rPr lang="en-US" dirty="0" smtClean="0"/>
              <a:t>Amazon Web Services</a:t>
            </a:r>
          </a:p>
          <a:p>
            <a:r>
              <a:rPr lang="en-US" dirty="0" smtClean="0"/>
              <a:t>Microsoft Azure</a:t>
            </a:r>
          </a:p>
          <a:p>
            <a:r>
              <a:rPr lang="en-US" dirty="0" smtClean="0"/>
              <a:t>Controls:</a:t>
            </a:r>
          </a:p>
          <a:p>
            <a:r>
              <a:rPr lang="en-US" dirty="0" smtClean="0"/>
              <a:t>RBAC enforcement</a:t>
            </a:r>
          </a:p>
          <a:p>
            <a:r>
              <a:rPr lang="en-US" dirty="0" smtClean="0"/>
              <a:t>Encryption at rest &amp; transit</a:t>
            </a:r>
          </a:p>
          <a:p>
            <a:r>
              <a:rPr lang="en-US" dirty="0" smtClean="0"/>
              <a:t>Network segmentation</a:t>
            </a:r>
          </a:p>
          <a:p>
            <a:r>
              <a:rPr lang="en-US" dirty="0" smtClean="0"/>
              <a:t>CIS benchmark compliance</a:t>
            </a:r>
          </a:p>
          <a:p>
            <a:r>
              <a:rPr lang="en-US" dirty="0" smtClean="0"/>
              <a:t>Infrastructure as Code scanning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38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Supply Chain Security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Includes:</a:t>
            </a:r>
          </a:p>
          <a:p>
            <a:r>
              <a:rPr lang="en-US" dirty="0" smtClean="0"/>
              <a:t>SBOM maintenance</a:t>
            </a:r>
          </a:p>
          <a:p>
            <a:r>
              <a:rPr lang="en-US" dirty="0" smtClean="0"/>
              <a:t>Approved base images only</a:t>
            </a:r>
          </a:p>
          <a:p>
            <a:r>
              <a:rPr lang="en-US" dirty="0" smtClean="0"/>
              <a:t>Image signing &amp; verification</a:t>
            </a:r>
          </a:p>
          <a:p>
            <a:r>
              <a:rPr lang="en-US" dirty="0" smtClean="0"/>
              <a:t>Dependency provenance validation</a:t>
            </a:r>
          </a:p>
          <a:p>
            <a:r>
              <a:rPr lang="en-US" dirty="0" smtClean="0"/>
              <a:t>Open-source license compliance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55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Runtime &amp; Monitoring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ncludes</a:t>
            </a:r>
            <a:r>
              <a:rPr lang="en-US" dirty="0" smtClean="0"/>
              <a:t>:</a:t>
            </a:r>
          </a:p>
          <a:p>
            <a:r>
              <a:rPr lang="en-US" dirty="0" smtClean="0"/>
              <a:t>Log retention standards</a:t>
            </a:r>
          </a:p>
          <a:p>
            <a:r>
              <a:rPr lang="en-US" dirty="0" smtClean="0"/>
              <a:t>Incident response timelines</a:t>
            </a:r>
          </a:p>
          <a:p>
            <a:r>
              <a:rPr lang="en-US" dirty="0" smtClean="0"/>
              <a:t>Threat detection coverage</a:t>
            </a:r>
          </a:p>
          <a:p>
            <a:r>
              <a:rPr lang="en-US" dirty="0" smtClean="0"/>
              <a:t>Continuous compliance scanning</a:t>
            </a:r>
          </a:p>
          <a:p>
            <a:r>
              <a:rPr lang="en-US" dirty="0" smtClean="0"/>
              <a:t>Zero Trust enforcement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08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Policy as Code Governance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Governance is implemented via automation using:</a:t>
            </a:r>
          </a:p>
          <a:p>
            <a:r>
              <a:rPr lang="en-US" dirty="0" smtClean="0"/>
              <a:t>OPA (Open Policy Agent)</a:t>
            </a:r>
          </a:p>
          <a:p>
            <a:r>
              <a:rPr lang="en-US" dirty="0" smtClean="0"/>
              <a:t>Admission controllers</a:t>
            </a:r>
          </a:p>
          <a:p>
            <a:r>
              <a:rPr lang="en-US" dirty="0" smtClean="0"/>
              <a:t>CI pipeline gates</a:t>
            </a:r>
          </a:p>
          <a:p>
            <a:r>
              <a:rPr lang="en-US" dirty="0" smtClean="0"/>
              <a:t>Cloud policy engines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-based policy repositories</a:t>
            </a:r>
          </a:p>
          <a:p>
            <a:r>
              <a:rPr lang="en-US" dirty="0" smtClean="0"/>
              <a:t>Benefits:</a:t>
            </a:r>
            <a:br>
              <a:rPr lang="en-US" dirty="0" smtClean="0"/>
            </a:br>
            <a:r>
              <a:rPr lang="en-US" dirty="0" smtClean="0"/>
              <a:t>✔ No manual approval delays</a:t>
            </a:r>
            <a:br>
              <a:rPr lang="en-US" dirty="0" smtClean="0"/>
            </a:br>
            <a:r>
              <a:rPr lang="en-US" dirty="0" smtClean="0"/>
              <a:t>✔ Consistent enforcement</a:t>
            </a:r>
            <a:br>
              <a:rPr lang="en-US" dirty="0" smtClean="0"/>
            </a:br>
            <a:r>
              <a:rPr lang="en-US" dirty="0" smtClean="0"/>
              <a:t>✔ Audit traceability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849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Vulnerability Management Governance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Escalation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24–48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VP Engineering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Engineering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 Owner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Risk accepted or backlog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518965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Governance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No production deployment with unapproved critical CVEs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Exception process documented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Risk acceptance tracked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82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Compliance &amp; Regulatory Alignment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Map </a:t>
            </a:r>
            <a:r>
              <a:rPr lang="en-US" dirty="0" err="1" smtClean="0"/>
              <a:t>DevSecOps</a:t>
            </a:r>
            <a:r>
              <a:rPr lang="en-US" dirty="0" smtClean="0"/>
              <a:t> controls to:</a:t>
            </a:r>
          </a:p>
          <a:p>
            <a:r>
              <a:rPr lang="en-US" dirty="0" smtClean="0"/>
              <a:t>ISO 27001</a:t>
            </a:r>
          </a:p>
          <a:p>
            <a:r>
              <a:rPr lang="en-US" dirty="0" smtClean="0"/>
              <a:t>SOC 2</a:t>
            </a:r>
          </a:p>
          <a:p>
            <a:r>
              <a:rPr lang="en-US" dirty="0" smtClean="0"/>
              <a:t>PCI-DSS</a:t>
            </a:r>
          </a:p>
          <a:p>
            <a:r>
              <a:rPr lang="en-US" dirty="0" smtClean="0"/>
              <a:t>NIST CSF</a:t>
            </a:r>
          </a:p>
          <a:p>
            <a:r>
              <a:rPr lang="en-US" dirty="0" smtClean="0"/>
              <a:t>CIS Benchmarks</a:t>
            </a:r>
          </a:p>
          <a:p>
            <a:r>
              <a:rPr lang="en-US" dirty="0" smtClean="0"/>
              <a:t>Governance requires:</a:t>
            </a:r>
          </a:p>
          <a:p>
            <a:r>
              <a:rPr lang="en-US" dirty="0" smtClean="0"/>
              <a:t>✔ Automated evidence collection</a:t>
            </a:r>
            <a:br>
              <a:rPr lang="en-US" dirty="0" smtClean="0"/>
            </a:br>
            <a:r>
              <a:rPr lang="en-US" dirty="0" smtClean="0"/>
              <a:t>✔ Compliance dashboard</a:t>
            </a:r>
            <a:br>
              <a:rPr lang="en-US" dirty="0" smtClean="0"/>
            </a:br>
            <a:r>
              <a:rPr lang="en-US" dirty="0" smtClean="0"/>
              <a:t>✔ Audit-ready reporting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4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Enterprise </a:t>
            </a:r>
            <a:r>
              <a:rPr lang="en-US" dirty="0" err="1" smtClean="0"/>
              <a:t>DevSecOps</a:t>
            </a:r>
            <a:r>
              <a:rPr lang="en-US" dirty="0" smtClean="0"/>
              <a:t> RACI Matrix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446814"/>
          <a:ext cx="10515600" cy="310896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Platform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Secure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Security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Policy 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CI Pipeline 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Runtime 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Audit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3194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 &amp; Reporting Framework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dashboards should track: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 of builds passing security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Time to Remediate (MTTR)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age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 violation 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coverage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frequency vs risk score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Executive reporting should focus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exposure trend over time.</a:t>
            </a:r>
          </a:p>
        </p:txBody>
      </p:sp>
    </p:spTree>
    <p:extLst>
      <p:ext uri="{BB962C8B-B14F-4D97-AF65-F5344CB8AC3E}">
        <p14:creationId xmlns:p14="http://schemas.microsoft.com/office/powerpoint/2010/main" val="2264740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DevSecOps</a:t>
            </a:r>
            <a:r>
              <a:rPr lang="en-US" dirty="0" smtClean="0"/>
              <a:t> Maturity Governance Levels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Governance Capability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security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Automated scanning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Policy as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compliance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Level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Predictive risk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576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Governance Documentation Template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You can structure your governance document as:</a:t>
            </a:r>
          </a:p>
          <a:p>
            <a:r>
              <a:rPr lang="en-US" dirty="0" smtClean="0"/>
              <a:t>Executive Summary</a:t>
            </a:r>
          </a:p>
          <a:p>
            <a:r>
              <a:rPr lang="en-US" dirty="0" smtClean="0"/>
              <a:t>Scope &amp; Applicability</a:t>
            </a:r>
          </a:p>
          <a:p>
            <a:r>
              <a:rPr lang="en-US" dirty="0" smtClean="0"/>
              <a:t>Governance Structure</a:t>
            </a:r>
          </a:p>
          <a:p>
            <a:r>
              <a:rPr lang="en-US" dirty="0" err="1" smtClean="0"/>
              <a:t>DevSecOps</a:t>
            </a:r>
            <a:r>
              <a:rPr lang="en-US" dirty="0" smtClean="0"/>
              <a:t> Policies</a:t>
            </a:r>
          </a:p>
          <a:p>
            <a:r>
              <a:rPr lang="en-US" dirty="0" smtClean="0"/>
              <a:t>Security Controls Matrix</a:t>
            </a:r>
          </a:p>
          <a:p>
            <a:r>
              <a:rPr lang="en-US" dirty="0" smtClean="0"/>
              <a:t>Risk &amp; SLA Framework</a:t>
            </a:r>
          </a:p>
          <a:p>
            <a:r>
              <a:rPr lang="en-US" dirty="0" smtClean="0"/>
              <a:t>Compliance Mapping</a:t>
            </a:r>
          </a:p>
          <a:p>
            <a:r>
              <a:rPr lang="en-US" dirty="0" smtClean="0"/>
              <a:t>Reporting &amp; Metrics</a:t>
            </a:r>
          </a:p>
          <a:p>
            <a:r>
              <a:rPr lang="en-US" dirty="0" smtClean="0"/>
              <a:t>Exception Management</a:t>
            </a:r>
          </a:p>
          <a:p>
            <a:r>
              <a:rPr lang="en-US" dirty="0" smtClean="0"/>
              <a:t>Continuous Improvement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007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DevSecOps Governance Framework ensures: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 is measurable, enforceable, automated, and auditable — without slowing innovation.</a:t>
            </a:r>
          </a:p>
        </p:txBody>
      </p:sp>
    </p:spTree>
    <p:extLst>
      <p:ext uri="{BB962C8B-B14F-4D97-AF65-F5344CB8AC3E}">
        <p14:creationId xmlns:p14="http://schemas.microsoft.com/office/powerpoint/2010/main" val="256750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1421</Words>
  <Application>Microsoft Office PowerPoint</Application>
  <PresentationFormat>Widescreen</PresentationFormat>
  <Paragraphs>449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Office Theme</vt:lpstr>
      <vt:lpstr>What is DevSecOps?</vt:lpstr>
      <vt:lpstr>Definition </vt:lpstr>
      <vt:lpstr>Evolution: From DevOps to DevSecOps</vt:lpstr>
      <vt:lpstr>DevSecOps Lifecycle (End-to-End)</vt:lpstr>
      <vt:lpstr>PowerPoint Presentation</vt:lpstr>
      <vt:lpstr>PowerPoint Presentation</vt:lpstr>
      <vt:lpstr>Key DevSecOps Components</vt:lpstr>
      <vt:lpstr>2. Secrets Management</vt:lpstr>
      <vt:lpstr>3. Policy as Code</vt:lpstr>
      <vt:lpstr>4. Container &amp; Kubernetes Security</vt:lpstr>
      <vt:lpstr>5. Supply Chain Security</vt:lpstr>
      <vt:lpstr>Core Principles of DevSecOps</vt:lpstr>
      <vt:lpstr>Why DevSecOps is Important</vt:lpstr>
      <vt:lpstr>DevOps vs DevSecOps</vt:lpstr>
      <vt:lpstr>Real-World Example</vt:lpstr>
      <vt:lpstr>Cultural Impact</vt:lpstr>
      <vt:lpstr>PowerPoint Presentation</vt:lpstr>
      <vt:lpstr>DevSecOps Architecture A DevSecOps architecture shows how security controls are embedded across the entire software delivery pipeline — from planning to runtime monitoring. Let’s break it down layer by layer. </vt:lpstr>
      <vt:lpstr>PowerPoint Presentation</vt:lpstr>
      <vt:lpstr>2️⃣   Component-by-Component Explanation</vt:lpstr>
      <vt:lpstr>2. Continuous Integration (CI) Pipeline</vt:lpstr>
      <vt:lpstr>3. Artifact Repository / Container Registry</vt:lpstr>
      <vt:lpstr>4. Continuous Deployment (CD)</vt:lpstr>
      <vt:lpstr>5. Infrastructure Layer (Cloud / Kubernetes)</vt:lpstr>
      <vt:lpstr>6. Runtime Monitoring &amp; Detection</vt:lpstr>
      <vt:lpstr>End-to-End Flow</vt:lpstr>
      <vt:lpstr>Key Architectural Principles</vt:lpstr>
      <vt:lpstr>A complete DevSecOps architecture integrates:</vt:lpstr>
      <vt:lpstr>DevSecOps Governance Framework Template (Enterprise-Ready)</vt:lpstr>
      <vt:lpstr>PowerPoint Presentation</vt:lpstr>
      <vt:lpstr>PowerPoint Presentation</vt:lpstr>
      <vt:lpstr>2️⃣   Governance Operating Model</vt:lpstr>
      <vt:lpstr>B. Three Lines of Defense Model</vt:lpstr>
      <vt:lpstr>3️ DevSecOps Policy Framework</vt:lpstr>
      <vt:lpstr>2. CI/CD Security Policy</vt:lpstr>
      <vt:lpstr>3. Cloud &amp; Infrastructure Policy</vt:lpstr>
      <vt:lpstr>4. Supply Chain Security Policy</vt:lpstr>
      <vt:lpstr>5. Runtime &amp; Monitoring Policy</vt:lpstr>
      <vt:lpstr>Policy as Code Governance Model</vt:lpstr>
      <vt:lpstr>Vulnerability Management Governance</vt:lpstr>
      <vt:lpstr>Compliance &amp; Regulatory Alignment</vt:lpstr>
      <vt:lpstr>Enterprise DevSecOps RACI Matrix</vt:lpstr>
      <vt:lpstr>Metrics &amp; Reporting Framework</vt:lpstr>
      <vt:lpstr>DevSecOps Maturity Governance Levels</vt:lpstr>
      <vt:lpstr>Governance Documentation Template Structure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DevSecOps?</dc:title>
  <dc:creator>Microsoft account</dc:creator>
  <cp:lastModifiedBy>Microsoft account</cp:lastModifiedBy>
  <cp:revision>4</cp:revision>
  <dcterms:created xsi:type="dcterms:W3CDTF">2026-02-28T13:35:29Z</dcterms:created>
  <dcterms:modified xsi:type="dcterms:W3CDTF">2026-02-28T13:56:04Z</dcterms:modified>
</cp:coreProperties>
</file>