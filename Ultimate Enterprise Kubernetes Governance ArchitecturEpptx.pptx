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9E67A-1395-4877-89ED-296A371B9115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A1E39C-4EA0-4411-B4D7-21873DCBD6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1410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9E67A-1395-4877-89ED-296A371B9115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A1E39C-4EA0-4411-B4D7-21873DCBD6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5744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9E67A-1395-4877-89ED-296A371B9115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A1E39C-4EA0-4411-B4D7-21873DCBD6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1718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9E67A-1395-4877-89ED-296A371B9115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A1E39C-4EA0-4411-B4D7-21873DCBD6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6768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9E67A-1395-4877-89ED-296A371B9115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A1E39C-4EA0-4411-B4D7-21873DCBD6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8252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9E67A-1395-4877-89ED-296A371B9115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A1E39C-4EA0-4411-B4D7-21873DCBD6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3092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9E67A-1395-4877-89ED-296A371B9115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A1E39C-4EA0-4411-B4D7-21873DCBD6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8571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9E67A-1395-4877-89ED-296A371B9115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A1E39C-4EA0-4411-B4D7-21873DCBD6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3310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9E67A-1395-4877-89ED-296A371B9115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A1E39C-4EA0-4411-B4D7-21873DCBD6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633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9E67A-1395-4877-89ED-296A371B9115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A1E39C-4EA0-4411-B4D7-21873DCBD6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64359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9E67A-1395-4877-89ED-296A371B9115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A1E39C-4EA0-4411-B4D7-21873DCBD6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83981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B9E67A-1395-4877-89ED-296A371B9115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A1E39C-4EA0-4411-B4D7-21873DCBD6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9763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2400" b="1" dirty="0" smtClean="0"/>
              <a:t>Ultimate Enterprise Kubernetes Governance Architecture</a:t>
            </a:r>
            <a:r>
              <a:rPr lang="en-US" sz="2400" dirty="0" smtClean="0"/>
              <a:t> similar to what </a:t>
            </a:r>
            <a:r>
              <a:rPr lang="en-US" sz="2400" b="1" dirty="0" smtClean="0"/>
              <a:t>banks, </a:t>
            </a:r>
            <a:r>
              <a:rPr lang="en-US" sz="2400" b="1" dirty="0" err="1" smtClean="0"/>
              <a:t>fintech</a:t>
            </a:r>
            <a:r>
              <a:rPr lang="en-US" sz="2400" b="1" dirty="0" smtClean="0"/>
              <a:t>, and regulated enterprises</a:t>
            </a:r>
            <a:r>
              <a:rPr lang="en-US" sz="2400" dirty="0" smtClean="0"/>
              <a:t> implement (PCI-DSS, RBI, SOC2, ISO27001 compliant environments).</a:t>
            </a:r>
            <a:br>
              <a:rPr lang="en-US" sz="2400" dirty="0" smtClean="0"/>
            </a:br>
            <a:r>
              <a:rPr lang="en-US" sz="2400" dirty="0" smtClean="0"/>
              <a:t>This is a </a:t>
            </a:r>
            <a:r>
              <a:rPr lang="en-US" sz="2400" b="1" dirty="0" smtClean="0"/>
              <a:t>Level-5 governance architecture</a:t>
            </a:r>
            <a:r>
              <a:rPr lang="en-US" sz="2400" dirty="0" smtClean="0"/>
              <a:t> (fully automated </a:t>
            </a:r>
            <a:r>
              <a:rPr lang="en-US" sz="2400" dirty="0" err="1" smtClean="0"/>
              <a:t>DevSecOps</a:t>
            </a:r>
            <a:r>
              <a:rPr lang="en-US" sz="2400" dirty="0" smtClean="0"/>
              <a:t> governance platform).</a:t>
            </a:r>
            <a:br>
              <a:rPr lang="en-US" sz="2400" dirty="0" smtClean="0"/>
            </a:br>
            <a:endParaRPr lang="en-US" sz="24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3313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 smtClean="0"/>
              <a:t>Ultimate Kubernetes Governance Architecture (Bank Grade)</a:t>
            </a:r>
            <a:br>
              <a:rPr lang="en-US" sz="2800" b="1" dirty="0" smtClean="0"/>
            </a:br>
            <a:r>
              <a:rPr lang="en-US" sz="2800" b="1" dirty="0" smtClean="0"/>
              <a:t>High Level Architecture Flow</a:t>
            </a:r>
            <a:br>
              <a:rPr lang="en-US" sz="2800" b="1" dirty="0" smtClean="0"/>
            </a:br>
            <a:endParaRPr lang="en-US" sz="2800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36220" y="1825625"/>
            <a:ext cx="451955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45155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 smtClean="0"/>
              <a:t>Enterprise Governance Layers (Bank Model)</a:t>
            </a:r>
            <a:br>
              <a:rPr lang="en-US" sz="2800" b="1" dirty="0" smtClean="0"/>
            </a:br>
            <a:r>
              <a:rPr lang="en-US" sz="2800" dirty="0" smtClean="0"/>
              <a:t>Banks usually implement governance across </a:t>
            </a:r>
            <a:r>
              <a:rPr lang="en-US" sz="2800" b="1" dirty="0" smtClean="0"/>
              <a:t>7 control layers</a:t>
            </a:r>
            <a:r>
              <a:rPr lang="en-US" sz="2800" dirty="0" smtClean="0"/>
              <a:t>:</a:t>
            </a:r>
            <a:br>
              <a:rPr lang="en-US" sz="2800" dirty="0" smtClean="0"/>
            </a:b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1 Source governance</a:t>
            </a:r>
            <a:br>
              <a:rPr lang="en-US" dirty="0" smtClean="0"/>
            </a:br>
            <a:r>
              <a:rPr lang="en-US" dirty="0" smtClean="0"/>
              <a:t>2 Pipeline governance</a:t>
            </a:r>
            <a:br>
              <a:rPr lang="en-US" dirty="0" smtClean="0"/>
            </a:br>
            <a:r>
              <a:rPr lang="en-US" dirty="0" smtClean="0"/>
              <a:t>3 Image governance</a:t>
            </a:r>
            <a:br>
              <a:rPr lang="en-US" dirty="0" smtClean="0"/>
            </a:br>
            <a:r>
              <a:rPr lang="en-US" dirty="0" smtClean="0"/>
              <a:t>4 Deployment governance</a:t>
            </a:r>
            <a:br>
              <a:rPr lang="en-US" dirty="0" smtClean="0"/>
            </a:br>
            <a:r>
              <a:rPr lang="en-US" dirty="0" smtClean="0"/>
              <a:t>5 Cluster governance</a:t>
            </a:r>
            <a:br>
              <a:rPr lang="en-US" dirty="0" smtClean="0"/>
            </a:br>
            <a:r>
              <a:rPr lang="en-US" dirty="0" smtClean="0"/>
              <a:t>6 Runtime governance</a:t>
            </a:r>
            <a:br>
              <a:rPr lang="en-US" dirty="0" smtClean="0"/>
            </a:br>
            <a:r>
              <a:rPr lang="en-US" dirty="0" smtClean="0"/>
              <a:t>7 Compliance governance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36938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Layer 1 — Source Code Governance</a:t>
            </a:r>
          </a:p>
          <a:p>
            <a:r>
              <a:rPr lang="en-US" dirty="0" smtClean="0"/>
              <a:t>Purpose:</a:t>
            </a:r>
            <a:br>
              <a:rPr lang="en-US" dirty="0" smtClean="0"/>
            </a:br>
            <a:r>
              <a:rPr lang="en-US" dirty="0" smtClean="0"/>
              <a:t>Prevent insecure code entering pipeline.</a:t>
            </a:r>
          </a:p>
          <a:p>
            <a:r>
              <a:rPr lang="en-US" dirty="0" smtClean="0"/>
              <a:t>Controls:</a:t>
            </a:r>
          </a:p>
          <a:p>
            <a:r>
              <a:rPr lang="en-US" dirty="0" smtClean="0"/>
              <a:t>Branch protection rules: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32943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0" name="Content Placeholder 39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37836" y="2805739"/>
            <a:ext cx="7716327" cy="2391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30326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23679" y="2853371"/>
            <a:ext cx="6744641" cy="2295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18380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Enterprise controls:</a:t>
            </a:r>
          </a:p>
          <a:p>
            <a:r>
              <a:rPr lang="en-US" dirty="0" smtClean="0"/>
              <a:t>Mandatory:</a:t>
            </a:r>
          </a:p>
          <a:p>
            <a:r>
              <a:rPr lang="en-US" dirty="0" smtClean="0"/>
              <a:t>SAST scan (</a:t>
            </a:r>
            <a:r>
              <a:rPr lang="en-US" dirty="0" err="1" smtClean="0"/>
              <a:t>SonarQube</a:t>
            </a:r>
            <a:r>
              <a:rPr lang="en-US" dirty="0" smtClean="0"/>
              <a:t>)</a:t>
            </a:r>
          </a:p>
          <a:p>
            <a:r>
              <a:rPr lang="en-US" dirty="0" smtClean="0"/>
              <a:t>Secret detection (</a:t>
            </a:r>
            <a:r>
              <a:rPr lang="en-US" dirty="0" err="1" smtClean="0"/>
              <a:t>GitLeaks</a:t>
            </a:r>
            <a:r>
              <a:rPr lang="en-US" dirty="0" smtClean="0"/>
              <a:t>)</a:t>
            </a:r>
          </a:p>
          <a:p>
            <a:r>
              <a:rPr lang="en-US" dirty="0" smtClean="0"/>
              <a:t>Dependency scan (</a:t>
            </a:r>
            <a:r>
              <a:rPr lang="en-US" dirty="0" err="1" smtClean="0"/>
              <a:t>Snyk</a:t>
            </a:r>
            <a:r>
              <a:rPr lang="en-US" dirty="0" smtClean="0"/>
              <a:t>)</a:t>
            </a:r>
          </a:p>
          <a:p>
            <a:r>
              <a:rPr lang="en-US" dirty="0" err="1" smtClean="0"/>
              <a:t>IaC</a:t>
            </a:r>
            <a:r>
              <a:rPr lang="en-US" dirty="0" smtClean="0"/>
              <a:t> scan (</a:t>
            </a:r>
            <a:r>
              <a:rPr lang="en-US" dirty="0" err="1" smtClean="0"/>
              <a:t>Checkov</a:t>
            </a:r>
            <a:r>
              <a:rPr lang="en-US" dirty="0" smtClean="0"/>
              <a:t>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45941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Pipeline example: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71734" y="2848608"/>
            <a:ext cx="3448531" cy="2305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11122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Layer 2 — CI/CD Governance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Purpose:</a:t>
            </a:r>
            <a:br>
              <a:rPr lang="en-US" dirty="0" smtClean="0"/>
            </a:br>
            <a:r>
              <a:rPr lang="en-US" dirty="0" smtClean="0"/>
              <a:t>Ensure secure build process.</a:t>
            </a:r>
          </a:p>
          <a:p>
            <a:r>
              <a:rPr lang="en-US" dirty="0" smtClean="0"/>
              <a:t>Controls:</a:t>
            </a:r>
          </a:p>
          <a:p>
            <a:r>
              <a:rPr lang="en-US" dirty="0" smtClean="0"/>
              <a:t>Required governance:</a:t>
            </a:r>
          </a:p>
          <a:p>
            <a:r>
              <a:rPr lang="en-US" dirty="0" smtClean="0"/>
              <a:t>Build must:</a:t>
            </a:r>
          </a:p>
          <a:p>
            <a:r>
              <a:rPr lang="en-US" dirty="0" smtClean="0"/>
              <a:t>Use approved base images</a:t>
            </a:r>
          </a:p>
          <a:p>
            <a:r>
              <a:rPr lang="en-US" dirty="0" smtClean="0"/>
              <a:t>Use secure build agent</a:t>
            </a:r>
          </a:p>
          <a:p>
            <a:r>
              <a:rPr lang="en-US" dirty="0" smtClean="0"/>
              <a:t>Generate SBOM</a:t>
            </a:r>
          </a:p>
          <a:p>
            <a:r>
              <a:rPr lang="en-US" dirty="0" smtClean="0"/>
              <a:t>Sign artifacts</a:t>
            </a:r>
          </a:p>
          <a:p>
            <a:r>
              <a:rPr lang="en-US" dirty="0" smtClean="0"/>
              <a:t>Store provenance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20017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Layer 3 — Container Image Governance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Purpose:</a:t>
            </a:r>
            <a:br>
              <a:rPr lang="en-US" dirty="0" smtClean="0"/>
            </a:br>
            <a:r>
              <a:rPr lang="en-US" dirty="0" smtClean="0"/>
              <a:t>Ensure only trusted images run.</a:t>
            </a:r>
          </a:p>
          <a:p>
            <a:r>
              <a:rPr lang="en-US" dirty="0" smtClean="0"/>
              <a:t>Controls:</a:t>
            </a:r>
          </a:p>
          <a:p>
            <a:r>
              <a:rPr lang="en-US" dirty="0" smtClean="0"/>
              <a:t>Required:</a:t>
            </a:r>
          </a:p>
          <a:p>
            <a:r>
              <a:rPr lang="en-US" dirty="0" smtClean="0"/>
              <a:t>Image must:</a:t>
            </a:r>
          </a:p>
          <a:p>
            <a:r>
              <a:rPr lang="en-US" dirty="0" smtClean="0"/>
              <a:t>Be scanned</a:t>
            </a:r>
          </a:p>
          <a:p>
            <a:r>
              <a:rPr lang="en-US" dirty="0" smtClean="0"/>
              <a:t>Be signed</a:t>
            </a:r>
          </a:p>
          <a:p>
            <a:r>
              <a:rPr lang="en-US" dirty="0" smtClean="0"/>
              <a:t>Have no critical CVE</a:t>
            </a:r>
          </a:p>
          <a:p>
            <a:r>
              <a:rPr lang="en-US" dirty="0" smtClean="0"/>
              <a:t>Come from approved registry</a:t>
            </a:r>
          </a:p>
          <a:p>
            <a:r>
              <a:rPr lang="en-US" dirty="0" smtClean="0"/>
              <a:t>Have SBOM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80194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Enterprise model: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57286" y="2210344"/>
            <a:ext cx="4677428" cy="358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69387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Example governance rule:</a:t>
            </a:r>
          </a:p>
          <a:p>
            <a:r>
              <a:rPr lang="en-US" dirty="0" smtClean="0"/>
              <a:t>Reject image if:</a:t>
            </a:r>
          </a:p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9686" y="1690688"/>
            <a:ext cx="5553850" cy="5068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7687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Layer 4 — Deployment Governance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Purpose:</a:t>
            </a:r>
            <a:br>
              <a:rPr lang="en-US" dirty="0" smtClean="0"/>
            </a:br>
            <a:r>
              <a:rPr lang="en-US" dirty="0" smtClean="0"/>
              <a:t>Stop bad workloads before cluster.</a:t>
            </a:r>
          </a:p>
          <a:p>
            <a:r>
              <a:rPr lang="en-US" dirty="0" smtClean="0"/>
              <a:t>Implemented via:</a:t>
            </a:r>
          </a:p>
          <a:p>
            <a:r>
              <a:rPr lang="en-US" dirty="0" smtClean="0"/>
              <a:t>Admission controllers.</a:t>
            </a:r>
          </a:p>
          <a:p>
            <a:r>
              <a:rPr lang="en-US" dirty="0" smtClean="0"/>
              <a:t>Enterprise governance engine:</a:t>
            </a:r>
          </a:p>
          <a:p>
            <a:r>
              <a:rPr lang="en-US" dirty="0" smtClean="0"/>
              <a:t>OPA Gatekeeper</a:t>
            </a:r>
          </a:p>
          <a:p>
            <a:r>
              <a:rPr lang="en-US" dirty="0" err="1" smtClean="0"/>
              <a:t>Kyverno</a:t>
            </a:r>
            <a:endParaRPr lang="en-US" dirty="0" smtClean="0"/>
          </a:p>
          <a:p>
            <a:r>
              <a:rPr lang="en-US" dirty="0" err="1" smtClean="0"/>
              <a:t>Kubewarden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03815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Typical bank policies: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Block: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Latest tag:</a:t>
            </a:r>
            <a:endParaRPr kumimoji="0" lang="en-US" altLang="en-US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 Unicode MS" panose="020B0604020202020204" pitchFamily="34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image: payment:latest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>Require:</a:t>
            </a:r>
            <a:endParaRPr kumimoji="0" lang="en-US" altLang="en-US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 Unicode MS" panose="020B0604020202020204" pitchFamily="34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image: payment:v1.4</a:t>
            </a: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38490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97356" y="1825625"/>
            <a:ext cx="279728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35124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Result:</a:t>
            </a:r>
            <a:br>
              <a:rPr lang="en-US" dirty="0" smtClean="0"/>
            </a:br>
            <a:r>
              <a:rPr lang="en-US" dirty="0" smtClean="0"/>
              <a:t>Deployment rejected automatically.</a:t>
            </a:r>
            <a:br>
              <a:rPr lang="en-US" dirty="0" smtClean="0"/>
            </a:b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02151" y="1825625"/>
            <a:ext cx="698769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62149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 dirty="0" smtClean="0"/>
              <a:t>Layer 5 — Kubernetes Cluster Governance</a:t>
            </a:r>
            <a:br>
              <a:rPr lang="en-US" sz="2400" b="1" dirty="0" smtClean="0"/>
            </a:br>
            <a:r>
              <a:rPr lang="en-US" sz="2400" dirty="0" smtClean="0"/>
              <a:t>Core enterprise controls:</a:t>
            </a:r>
            <a:br>
              <a:rPr lang="en-US" sz="2400" dirty="0" smtClean="0"/>
            </a:br>
            <a:endParaRPr lang="en-US" sz="2400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83535" y="1825625"/>
            <a:ext cx="602492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60183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enterprise structure: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85865" y="2167475"/>
            <a:ext cx="4620270" cy="3667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44154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43693" y="1825625"/>
            <a:ext cx="7904613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883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76621" y="1825625"/>
            <a:ext cx="563875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61052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49833" y="1825625"/>
            <a:ext cx="729233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43809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55928" y="1825625"/>
            <a:ext cx="7080143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52440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Layer 6 — Runtime Governance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 smtClean="0"/>
              <a:t>Purpose:</a:t>
            </a:r>
            <a:br>
              <a:rPr lang="en-US" dirty="0" smtClean="0"/>
            </a:br>
            <a:r>
              <a:rPr lang="en-US" dirty="0" smtClean="0"/>
              <a:t>Detect attacks.</a:t>
            </a:r>
          </a:p>
          <a:p>
            <a:r>
              <a:rPr lang="en-US" dirty="0" smtClean="0"/>
              <a:t>Runtime security monitors:</a:t>
            </a:r>
          </a:p>
          <a:p>
            <a:r>
              <a:rPr lang="en-US" dirty="0" smtClean="0"/>
              <a:t>Detect:</a:t>
            </a:r>
          </a:p>
          <a:p>
            <a:r>
              <a:rPr lang="en-US" dirty="0" smtClean="0"/>
              <a:t>Crypto mining</a:t>
            </a:r>
            <a:br>
              <a:rPr lang="en-US" dirty="0" smtClean="0"/>
            </a:br>
            <a:r>
              <a:rPr lang="en-US" dirty="0" smtClean="0"/>
              <a:t>Reverse shells</a:t>
            </a:r>
            <a:br>
              <a:rPr lang="en-US" dirty="0" smtClean="0"/>
            </a:br>
            <a:r>
              <a:rPr lang="en-US" dirty="0" smtClean="0"/>
              <a:t>Privilege escalation</a:t>
            </a:r>
            <a:br>
              <a:rPr lang="en-US" dirty="0" smtClean="0"/>
            </a:br>
            <a:r>
              <a:rPr lang="en-US" dirty="0" smtClean="0"/>
              <a:t>Container escape</a:t>
            </a:r>
            <a:br>
              <a:rPr lang="en-US" dirty="0" smtClean="0"/>
            </a:br>
            <a:r>
              <a:rPr lang="en-US" dirty="0" smtClean="0"/>
              <a:t>Malware execution</a:t>
            </a:r>
          </a:p>
          <a:p>
            <a:r>
              <a:rPr lang="en-US" dirty="0" smtClean="0"/>
              <a:t>Enterprise runtime tools:</a:t>
            </a:r>
          </a:p>
          <a:p>
            <a:r>
              <a:rPr lang="en-US" dirty="0" smtClean="0"/>
              <a:t>Falco</a:t>
            </a:r>
          </a:p>
          <a:p>
            <a:r>
              <a:rPr lang="en-US" dirty="0" smtClean="0"/>
              <a:t>Aqua runtime</a:t>
            </a:r>
          </a:p>
          <a:p>
            <a:r>
              <a:rPr lang="en-US" dirty="0" err="1" smtClean="0"/>
              <a:t>Prisma</a:t>
            </a:r>
            <a:r>
              <a:rPr lang="en-US" dirty="0" smtClean="0"/>
              <a:t> runtime</a:t>
            </a:r>
          </a:p>
          <a:p>
            <a:r>
              <a:rPr lang="en-US" dirty="0" err="1" smtClean="0"/>
              <a:t>Sysdig</a:t>
            </a: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80132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04600" y="2548529"/>
            <a:ext cx="6982799" cy="2905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249734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Layer 7 — Compliance Governance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Purpose:</a:t>
            </a:r>
            <a:br>
              <a:rPr lang="en-US" dirty="0" smtClean="0"/>
            </a:br>
            <a:r>
              <a:rPr lang="en-US" dirty="0" smtClean="0"/>
              <a:t>Audit and compliance reporting.</a:t>
            </a:r>
          </a:p>
          <a:p>
            <a:r>
              <a:rPr lang="en-US" dirty="0" smtClean="0"/>
              <a:t>Required controls:</a:t>
            </a:r>
          </a:p>
          <a:p>
            <a:r>
              <a:rPr lang="en-US" dirty="0" smtClean="0"/>
              <a:t>Audit logging: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48898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92795" y="1825625"/>
            <a:ext cx="660641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969982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43261" y="3215372"/>
            <a:ext cx="2705478" cy="1571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800990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Compliance dashboards: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Show:</a:t>
            </a:r>
          </a:p>
          <a:p>
            <a:r>
              <a:rPr lang="en-US" dirty="0" smtClean="0"/>
              <a:t>PCI compliance score</a:t>
            </a:r>
            <a:br>
              <a:rPr lang="en-US" dirty="0" smtClean="0"/>
            </a:br>
            <a:r>
              <a:rPr lang="en-US" dirty="0" smtClean="0"/>
              <a:t>CIS benchmark score</a:t>
            </a:r>
            <a:br>
              <a:rPr lang="en-US" dirty="0" smtClean="0"/>
            </a:br>
            <a:r>
              <a:rPr lang="en-US" dirty="0" smtClean="0"/>
              <a:t>Vulnerability trends</a:t>
            </a:r>
            <a:br>
              <a:rPr lang="en-US" dirty="0" smtClean="0"/>
            </a:br>
            <a:r>
              <a:rPr lang="en-US" dirty="0" smtClean="0"/>
              <a:t>Policy violations</a:t>
            </a:r>
          </a:p>
          <a:p>
            <a:r>
              <a:rPr lang="en-US" dirty="0" smtClean="0"/>
              <a:t>Tools:</a:t>
            </a:r>
          </a:p>
          <a:p>
            <a:r>
              <a:rPr lang="en-US" dirty="0" err="1" smtClean="0"/>
              <a:t>Kubescape</a:t>
            </a:r>
            <a:endParaRPr lang="en-US" dirty="0" smtClean="0"/>
          </a:p>
          <a:p>
            <a:r>
              <a:rPr lang="en-US" dirty="0" err="1" smtClean="0"/>
              <a:t>kube</a:t>
            </a:r>
            <a:r>
              <a:rPr lang="en-US" dirty="0" smtClean="0"/>
              <a:t>-bench</a:t>
            </a:r>
          </a:p>
          <a:p>
            <a:r>
              <a:rPr lang="en-US" dirty="0" err="1" smtClean="0"/>
              <a:t>kube</a:t>
            </a:r>
            <a:r>
              <a:rPr lang="en-US" dirty="0" smtClean="0"/>
              <a:t>-hunter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066154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 smtClean="0"/>
              <a:t>Enterprise Governance Tool Stack (Real Bank Example)</a:t>
            </a:r>
            <a:br>
              <a:rPr lang="en-US" sz="2800" b="1" dirty="0" smtClean="0"/>
            </a:br>
            <a:r>
              <a:rPr lang="en-US" sz="2800" dirty="0" smtClean="0"/>
              <a:t>Typical enterprise stack:</a:t>
            </a:r>
            <a:br>
              <a:rPr lang="en-US" sz="2800" dirty="0" smtClean="0"/>
            </a:br>
            <a:endParaRPr lang="en-US" sz="2800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1628108" y="1825624"/>
          <a:ext cx="8935784" cy="4351340"/>
        </p:xfrm>
        <a:graphic>
          <a:graphicData uri="http://schemas.openxmlformats.org/drawingml/2006/table">
            <a:tbl>
              <a:tblPr/>
              <a:tblGrid>
                <a:gridCol w="4467892"/>
                <a:gridCol w="4467892"/>
              </a:tblGrid>
              <a:tr h="310810">
                <a:tc>
                  <a:txBody>
                    <a:bodyPr/>
                    <a:lstStyle/>
                    <a:p>
                      <a:r>
                        <a:rPr lang="en-US" sz="1500"/>
                        <a:t>Area</a:t>
                      </a: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Tool</a:t>
                      </a: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10810">
                <a:tc>
                  <a:txBody>
                    <a:bodyPr/>
                    <a:lstStyle/>
                    <a:p>
                      <a:r>
                        <a:rPr lang="en-US" sz="1500"/>
                        <a:t>SAST</a:t>
                      </a: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SonarQube</a:t>
                      </a: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10810">
                <a:tc>
                  <a:txBody>
                    <a:bodyPr/>
                    <a:lstStyle/>
                    <a:p>
                      <a:r>
                        <a:rPr lang="en-US" sz="1500"/>
                        <a:t>SCA</a:t>
                      </a: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Snyk</a:t>
                      </a: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10810">
                <a:tc>
                  <a:txBody>
                    <a:bodyPr/>
                    <a:lstStyle/>
                    <a:p>
                      <a:r>
                        <a:rPr lang="en-US" sz="1500"/>
                        <a:t>Secrets</a:t>
                      </a: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GitLeaks</a:t>
                      </a: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10810">
                <a:tc>
                  <a:txBody>
                    <a:bodyPr/>
                    <a:lstStyle/>
                    <a:p>
                      <a:r>
                        <a:rPr lang="en-US" sz="1500"/>
                        <a:t>IaC</a:t>
                      </a: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Checkov</a:t>
                      </a: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10810">
                <a:tc>
                  <a:txBody>
                    <a:bodyPr/>
                    <a:lstStyle/>
                    <a:p>
                      <a:r>
                        <a:rPr lang="en-US" sz="1500"/>
                        <a:t>Image Scan</a:t>
                      </a: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Trivy</a:t>
                      </a: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10810">
                <a:tc>
                  <a:txBody>
                    <a:bodyPr/>
                    <a:lstStyle/>
                    <a:p>
                      <a:r>
                        <a:rPr lang="en-US" sz="1500"/>
                        <a:t>Signing</a:t>
                      </a: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Cosign</a:t>
                      </a: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10810">
                <a:tc>
                  <a:txBody>
                    <a:bodyPr/>
                    <a:lstStyle/>
                    <a:p>
                      <a:r>
                        <a:rPr lang="en-US" sz="1500"/>
                        <a:t>SBOM</a:t>
                      </a: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Syft</a:t>
                      </a: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10810">
                <a:tc>
                  <a:txBody>
                    <a:bodyPr/>
                    <a:lstStyle/>
                    <a:p>
                      <a:r>
                        <a:rPr lang="en-US" sz="1500"/>
                        <a:t>Policy</a:t>
                      </a: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OPA</a:t>
                      </a: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10810">
                <a:tc>
                  <a:txBody>
                    <a:bodyPr/>
                    <a:lstStyle/>
                    <a:p>
                      <a:r>
                        <a:rPr lang="en-US" sz="1500"/>
                        <a:t>Admission</a:t>
                      </a: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Kyverno</a:t>
                      </a: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10810">
                <a:tc>
                  <a:txBody>
                    <a:bodyPr/>
                    <a:lstStyle/>
                    <a:p>
                      <a:r>
                        <a:rPr lang="en-US" sz="1500"/>
                        <a:t>Runtime</a:t>
                      </a: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Falco</a:t>
                      </a: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10810">
                <a:tc>
                  <a:txBody>
                    <a:bodyPr/>
                    <a:lstStyle/>
                    <a:p>
                      <a:r>
                        <a:rPr lang="en-US" sz="1500"/>
                        <a:t>Compliance</a:t>
                      </a: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Kubescape</a:t>
                      </a: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10810">
                <a:tc>
                  <a:txBody>
                    <a:bodyPr/>
                    <a:lstStyle/>
                    <a:p>
                      <a:r>
                        <a:rPr lang="en-US" sz="1500"/>
                        <a:t>Monitoring</a:t>
                      </a: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Prometheus</a:t>
                      </a: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10810">
                <a:tc>
                  <a:txBody>
                    <a:bodyPr/>
                    <a:lstStyle/>
                    <a:p>
                      <a:r>
                        <a:rPr lang="en-US" sz="1500"/>
                        <a:t>SIEM</a:t>
                      </a: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 err="1"/>
                        <a:t>Splunk</a:t>
                      </a:r>
                      <a:endParaRPr lang="en-US" sz="1500" dirty="0"/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3087819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Real Bank Governance Golden Rules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 smtClean="0"/>
              <a:t>Banks typically enforce rules like: Critical rules:</a:t>
            </a:r>
          </a:p>
          <a:p>
            <a:r>
              <a:rPr lang="en-US" dirty="0" smtClean="0"/>
              <a:t>No root containers</a:t>
            </a:r>
          </a:p>
          <a:p>
            <a:r>
              <a:rPr lang="en-US" dirty="0" smtClean="0"/>
              <a:t>No privileged pods</a:t>
            </a:r>
          </a:p>
          <a:p>
            <a:r>
              <a:rPr lang="en-US" dirty="0" smtClean="0"/>
              <a:t>No latest images</a:t>
            </a:r>
          </a:p>
          <a:p>
            <a:r>
              <a:rPr lang="en-US" dirty="0" smtClean="0"/>
              <a:t>No unsigned images</a:t>
            </a:r>
          </a:p>
          <a:p>
            <a:r>
              <a:rPr lang="en-US" dirty="0" smtClean="0"/>
              <a:t>No plaintext secrets</a:t>
            </a:r>
          </a:p>
          <a:p>
            <a:r>
              <a:rPr lang="en-US" dirty="0" smtClean="0"/>
              <a:t>Mandatory limits</a:t>
            </a:r>
          </a:p>
          <a:p>
            <a:r>
              <a:rPr lang="en-US" dirty="0" smtClean="0"/>
              <a:t>Mandatory probes</a:t>
            </a:r>
          </a:p>
          <a:p>
            <a:r>
              <a:rPr lang="en-US" dirty="0" smtClean="0"/>
              <a:t>TLS required</a:t>
            </a:r>
          </a:p>
          <a:p>
            <a:r>
              <a:rPr lang="en-US" dirty="0" smtClean="0"/>
              <a:t>RBAC enforced</a:t>
            </a:r>
          </a:p>
          <a:p>
            <a:r>
              <a:rPr lang="en-US" dirty="0" smtClean="0"/>
              <a:t>Network isolation required</a:t>
            </a:r>
          </a:p>
          <a:p>
            <a:r>
              <a:rPr lang="en-US" dirty="0" smtClean="0"/>
              <a:t>Audit logging required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560292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 smtClean="0"/>
              <a:t>Enterprise Kubernetes Governance Platform Architecture</a:t>
            </a:r>
            <a:br>
              <a:rPr lang="en-US" sz="2800" b="1" dirty="0" smtClean="0"/>
            </a:br>
            <a:r>
              <a:rPr lang="en-US" sz="2800" dirty="0" smtClean="0"/>
              <a:t>Real enterprise platform teams build:</a:t>
            </a:r>
            <a:br>
              <a:rPr lang="en-US" sz="2800" dirty="0" smtClean="0"/>
            </a:br>
            <a:endParaRPr lang="en-US" sz="2800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16373" y="1825625"/>
            <a:ext cx="7159253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124515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This is called:</a:t>
            </a:r>
            <a:br>
              <a:rPr lang="en-US" dirty="0" smtClean="0"/>
            </a:br>
            <a:r>
              <a:rPr lang="en-US" b="1" dirty="0" smtClean="0"/>
              <a:t>Internal Developer Platform (IDP)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Used by:</a:t>
            </a:r>
          </a:p>
          <a:p>
            <a:r>
              <a:rPr lang="en-US" dirty="0" smtClean="0"/>
              <a:t>Banks</a:t>
            </a:r>
            <a:br>
              <a:rPr lang="en-US" dirty="0" smtClean="0"/>
            </a:br>
            <a:r>
              <a:rPr lang="en-US" dirty="0" smtClean="0"/>
              <a:t>Airlines</a:t>
            </a:r>
            <a:br>
              <a:rPr lang="en-US" dirty="0" smtClean="0"/>
            </a:br>
            <a:r>
              <a:rPr lang="en-US" dirty="0" smtClean="0"/>
              <a:t>Payment companies</a:t>
            </a:r>
            <a:br>
              <a:rPr lang="en-US" dirty="0" smtClean="0"/>
            </a:br>
            <a:r>
              <a:rPr lang="en-US" dirty="0" smtClean="0"/>
              <a:t>Insurance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392207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Enterprise Maturity Model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Level 1:</a:t>
            </a:r>
          </a:p>
          <a:p>
            <a:r>
              <a:rPr lang="en-US" dirty="0" smtClean="0"/>
              <a:t>Basic cluster</a:t>
            </a:r>
          </a:p>
          <a:p>
            <a:r>
              <a:rPr lang="en-US" dirty="0" smtClean="0"/>
              <a:t>Level 2:</a:t>
            </a:r>
          </a:p>
          <a:p>
            <a:r>
              <a:rPr lang="en-US" dirty="0" smtClean="0"/>
              <a:t>RBAC + namespaces</a:t>
            </a:r>
          </a:p>
          <a:p>
            <a:r>
              <a:rPr lang="en-US" dirty="0" smtClean="0"/>
              <a:t>Level 3:</a:t>
            </a:r>
          </a:p>
          <a:p>
            <a:r>
              <a:rPr lang="en-US" dirty="0" smtClean="0"/>
              <a:t>Security scanning</a:t>
            </a:r>
          </a:p>
          <a:p>
            <a:r>
              <a:rPr lang="en-US" dirty="0" smtClean="0"/>
              <a:t>Level 4:</a:t>
            </a:r>
          </a:p>
          <a:p>
            <a:r>
              <a:rPr lang="en-US" dirty="0" smtClean="0"/>
              <a:t>Policy enforcement</a:t>
            </a:r>
          </a:p>
          <a:p>
            <a:r>
              <a:rPr lang="en-US" dirty="0" smtClean="0"/>
              <a:t>Level 5:</a:t>
            </a:r>
          </a:p>
          <a:p>
            <a:r>
              <a:rPr lang="en-US" dirty="0" smtClean="0"/>
              <a:t>Full governance automation platform</a:t>
            </a:r>
          </a:p>
          <a:p>
            <a:r>
              <a:rPr lang="en-US" dirty="0" smtClean="0"/>
              <a:t>Banks operate here.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163721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Real Deployment Flow (Bank Example)</a:t>
            </a:r>
            <a:br>
              <a:rPr lang="en-US" b="1" dirty="0" smtClean="0"/>
            </a:br>
            <a:r>
              <a:rPr lang="en-US" dirty="0" smtClean="0"/>
              <a:t>Real enterprise deployment flow:</a:t>
            </a:r>
            <a:br>
              <a:rPr lang="en-US" dirty="0" smtClean="0"/>
            </a:b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08165" y="1825625"/>
            <a:ext cx="217566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57001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Fully automated governance.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01104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305</Words>
  <Application>Microsoft Office PowerPoint</Application>
  <PresentationFormat>Widescreen</PresentationFormat>
  <Paragraphs>136</Paragraphs>
  <Slides>35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0" baseType="lpstr">
      <vt:lpstr>Arial Unicode MS</vt:lpstr>
      <vt:lpstr>Arial</vt:lpstr>
      <vt:lpstr>Calibri</vt:lpstr>
      <vt:lpstr>Calibri Light</vt:lpstr>
      <vt:lpstr>Office Theme</vt:lpstr>
      <vt:lpstr>Ultimate Enterprise Kubernetes Governance Architecture similar to what banks, fintech, and regulated enterprises implement (PCI-DSS, RBI, SOC2, ISO27001 compliant environments). This is a Level-5 governance architecture (fully automated DevSecOps governance platform). </vt:lpstr>
      <vt:lpstr>Ultimate Kubernetes Governance Architecture (Bank Grade) High Level Architecture Flow </vt:lpstr>
      <vt:lpstr>Enterprise Governance Layers (Bank Model) Banks usually implement governance across 7 control layers: </vt:lpstr>
      <vt:lpstr>PowerPoint Presentation</vt:lpstr>
      <vt:lpstr>PowerPoint Presentation</vt:lpstr>
      <vt:lpstr>PowerPoint Presentation</vt:lpstr>
      <vt:lpstr>PowerPoint Presentation</vt:lpstr>
      <vt:lpstr>Pipeline example:</vt:lpstr>
      <vt:lpstr>Layer 2 — CI/CD Governance</vt:lpstr>
      <vt:lpstr>Layer 3 — Container Image Governance</vt:lpstr>
      <vt:lpstr>Enterprise model:</vt:lpstr>
      <vt:lpstr>PowerPoint Presentation</vt:lpstr>
      <vt:lpstr>Layer 4 — Deployment Governance</vt:lpstr>
      <vt:lpstr>PowerPoint Presentation</vt:lpstr>
      <vt:lpstr>PowerPoint Presentation</vt:lpstr>
      <vt:lpstr>Result: Deployment rejected automatically. </vt:lpstr>
      <vt:lpstr>Layer 5 — Kubernetes Cluster Governance Core enterprise controls: </vt:lpstr>
      <vt:lpstr>Example enterprise structure:</vt:lpstr>
      <vt:lpstr>PowerPoint Presentation</vt:lpstr>
      <vt:lpstr>PowerPoint Presentation</vt:lpstr>
      <vt:lpstr>PowerPoint Presentation</vt:lpstr>
      <vt:lpstr>PowerPoint Presentation</vt:lpstr>
      <vt:lpstr>Layer 6 — Runtime Governance</vt:lpstr>
      <vt:lpstr>PowerPoint Presentation</vt:lpstr>
      <vt:lpstr>Layer 7 — Compliance Governance</vt:lpstr>
      <vt:lpstr>PowerPoint Presentation</vt:lpstr>
      <vt:lpstr>PowerPoint Presentation</vt:lpstr>
      <vt:lpstr>Compliance dashboards:</vt:lpstr>
      <vt:lpstr>Enterprise Governance Tool Stack (Real Bank Example) Typical enterprise stack: </vt:lpstr>
      <vt:lpstr>Real Bank Governance Golden Rules</vt:lpstr>
      <vt:lpstr>Enterprise Kubernetes Governance Platform Architecture Real enterprise platform teams build: </vt:lpstr>
      <vt:lpstr>This is called: Internal Developer Platform (IDP) </vt:lpstr>
      <vt:lpstr>Enterprise Maturity Model</vt:lpstr>
      <vt:lpstr>Real Deployment Flow (Bank Example) Real enterprise deployment flow: 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Ultimate Enterprise Kubernetes Governance Architecture similar to what banks, fintech, and regulated enterprises implement (PCI-DSS, RBI, SOC2, ISO27001 compliant environments). This is a Level-5 governance architecture (fully automated DevSecOps governance platform).</dc:title>
  <dc:creator>Microsoft account</dc:creator>
  <cp:lastModifiedBy>Microsoft account</cp:lastModifiedBy>
  <cp:revision>2</cp:revision>
  <dcterms:created xsi:type="dcterms:W3CDTF">2026-03-12T14:50:52Z</dcterms:created>
  <dcterms:modified xsi:type="dcterms:W3CDTF">2026-03-12T14:59:30Z</dcterms:modified>
</cp:coreProperties>
</file>