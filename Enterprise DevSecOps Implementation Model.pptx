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7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8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8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2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2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0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8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8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6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5F3CB-F78B-4AB2-A758-454DD394AF5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C721F-E6B2-41FA-B25A-343D559D9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Enterprise </a:t>
            </a:r>
            <a:r>
              <a:rPr lang="en-US" dirty="0" err="1" smtClean="0"/>
              <a:t>DevSecOps</a:t>
            </a:r>
            <a:r>
              <a:rPr lang="en-US" dirty="0" smtClean="0"/>
              <a:t> Implementation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Real implementation has </a:t>
            </a:r>
            <a:r>
              <a:rPr lang="en-US" b="1" dirty="0" smtClean="0"/>
              <a:t>3 repositories minimum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6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Responsibility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DevSecOps</a:t>
            </a:r>
            <a:r>
              <a:rPr lang="en-US" dirty="0"/>
              <a:t> is a cultural and operational approach that integrates security into every phase of the software development lifecycle (SDLC), transforming security from a final "gate" into a </a:t>
            </a:r>
            <a:r>
              <a:rPr lang="en-US" b="1" dirty="0"/>
              <a:t>shared responsibility</a:t>
            </a:r>
            <a:r>
              <a:rPr lang="en-US" dirty="0"/>
              <a:t>. It builds upon DevOps by ensuring that development, security, and operations teams collaborate continuously to build secure, high-quality software at speed.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1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of the Shared Responsibility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Instead of relying on a separate security team to fix issues at the end of development, </a:t>
            </a:r>
            <a:r>
              <a:rPr lang="en-US" dirty="0" err="1"/>
              <a:t>DevSecOps</a:t>
            </a:r>
            <a:r>
              <a:rPr lang="en-US" dirty="0"/>
              <a:t> distributes security ownership across the entire team: </a:t>
            </a:r>
            <a:endParaRPr lang="en-US" dirty="0" smtClean="0"/>
          </a:p>
          <a:p>
            <a:r>
              <a:rPr lang="en-US" dirty="0"/>
              <a:t>Shift Left: Security is moved to the earliest stages of development (planning and coding) to identify vulnerabilities early, which makes them easier and cheaper to fix.</a:t>
            </a:r>
          </a:p>
          <a:p>
            <a:r>
              <a:rPr lang="en-US" dirty="0"/>
              <a:t>Security as Code (</a:t>
            </a:r>
            <a:r>
              <a:rPr lang="en-US" dirty="0" err="1"/>
              <a:t>SaC</a:t>
            </a:r>
            <a:r>
              <a:rPr lang="en-US" dirty="0"/>
              <a:t>): Security policies, standards, and controls are automated and version-controlled, allowing them to be tested and deployed alongside application code.</a:t>
            </a:r>
          </a:p>
          <a:p>
            <a:r>
              <a:rPr lang="en-US" dirty="0"/>
              <a:t>Collaboration: Breaking down silos between Developers, Security specialists, and Operations (Dev-Sec-Ops) ensures security is not an afterthought.</a:t>
            </a:r>
          </a:p>
          <a:p>
            <a:r>
              <a:rPr lang="en-US" dirty="0"/>
              <a:t>Automated Guardrails: Security tools are embedded directly into the CI/CD pipeline, automatically scanning for vulnerabilities without slowing down the deployment process.</a:t>
            </a:r>
          </a:p>
        </p:txBody>
      </p:sp>
    </p:spTree>
    <p:extLst>
      <p:ext uri="{BB962C8B-B14F-4D97-AF65-F5344CB8AC3E}">
        <p14:creationId xmlns:p14="http://schemas.microsoft.com/office/powerpoint/2010/main" val="381489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 by Team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a </a:t>
            </a:r>
            <a:r>
              <a:rPr lang="en-US" dirty="0" err="1"/>
              <a:t>DevSecOps</a:t>
            </a:r>
            <a:r>
              <a:rPr lang="en-US" dirty="0"/>
              <a:t> environment, responsibilities are clearly defined: </a:t>
            </a:r>
          </a:p>
          <a:p>
            <a:r>
              <a:rPr lang="en-US" dirty="0"/>
              <a:t>Developers: Responsible for writing secure code, performing static analysis (SAST) in their IDEs, and fixing vulnerabilities in their code.</a:t>
            </a:r>
          </a:p>
          <a:p>
            <a:r>
              <a:rPr lang="en-US" dirty="0"/>
              <a:t>Security Team: Moves from being a "gatekeeper" to an enabler, responsible for defining security policies, setting guardrails, and providing tools for developers.</a:t>
            </a:r>
          </a:p>
          <a:p>
            <a:r>
              <a:rPr lang="en-US" dirty="0"/>
              <a:t>Operations Team: Ensures secure configurations, manages infrastructure as code (</a:t>
            </a:r>
            <a:r>
              <a:rPr lang="en-US" dirty="0" err="1"/>
              <a:t>IaC</a:t>
            </a:r>
            <a:r>
              <a:rPr lang="en-US" dirty="0"/>
              <a:t>), and handles monitoring/patching in production.</a:t>
            </a:r>
          </a:p>
          <a:p>
            <a:r>
              <a:rPr lang="en-US" dirty="0"/>
              <a:t>Security Champions: Developers within teams who act as security liaisons to advocate for secure practice</a:t>
            </a:r>
          </a:p>
        </p:txBody>
      </p:sp>
    </p:spTree>
    <p:extLst>
      <p:ext uri="{BB962C8B-B14F-4D97-AF65-F5344CB8AC3E}">
        <p14:creationId xmlns:p14="http://schemas.microsoft.com/office/powerpoint/2010/main" val="71924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Shared Responsibility Model Matters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Risk: Proactive detection reduces the likelihood of deploying vulnerable applications.</a:t>
            </a:r>
          </a:p>
          <a:p>
            <a:r>
              <a:rPr lang="en-US" dirty="0"/>
              <a:t>Faster Time-to-Market: Automated testing eliminates the bottlenecks traditional security reviews create.</a:t>
            </a:r>
          </a:p>
          <a:p>
            <a:r>
              <a:rPr lang="en-US" dirty="0"/>
              <a:t>Cost Savings: Identifying issues early is significantly cheaper than fixing breaches post-production.</a:t>
            </a:r>
          </a:p>
          <a:p>
            <a:r>
              <a:rPr lang="en-US" dirty="0"/>
              <a:t>Compliance: Automated compliance checks ensure regulatory standards (e.g., GDPR, HIPAA, PCI DSS) are met continuously</a:t>
            </a:r>
          </a:p>
        </p:txBody>
      </p:sp>
    </p:spTree>
    <p:extLst>
      <p:ext uri="{BB962C8B-B14F-4D97-AF65-F5344CB8AC3E}">
        <p14:creationId xmlns:p14="http://schemas.microsoft.com/office/powerpoint/2010/main" val="132902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DevSecOps</a:t>
            </a:r>
            <a:r>
              <a:rPr lang="en-US" dirty="0"/>
              <a:t> and Cloud Security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DevSecOps</a:t>
            </a:r>
            <a:r>
              <a:rPr lang="en-US" dirty="0"/>
              <a:t> is critical in cloud environments, where it complements the Cloud Service Provider (CSP) Shared Responsibility Model. While providers (like AWS, Azure, GCP) secure the physical infrastructure ("security of the cloud"), </a:t>
            </a:r>
            <a:r>
              <a:rPr lang="en-US" dirty="0" err="1"/>
              <a:t>DevSecOps</a:t>
            </a:r>
            <a:r>
              <a:rPr lang="en-US" dirty="0"/>
              <a:t> ensures that customers properly secure their data, applications, and configurations ("security in the cloud</a:t>
            </a:r>
            <a:r>
              <a:rPr lang="en-US" dirty="0" smtClean="0"/>
              <a:t>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63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Cultural Resistance: Shifting from a </a:t>
            </a:r>
            <a:r>
              <a:rPr lang="en-US" dirty="0" err="1"/>
              <a:t>siloed</a:t>
            </a:r>
            <a:r>
              <a:rPr lang="en-US" dirty="0"/>
              <a:t> approach to a collaborative one requires overcoming "us vs. them" mentalities.</a:t>
            </a:r>
          </a:p>
          <a:p>
            <a:r>
              <a:rPr lang="en-US" dirty="0"/>
              <a:t>Tool Overload: Integrating too many tools can create noise and overwhelm teams with false positives.</a:t>
            </a:r>
          </a:p>
          <a:p>
            <a:r>
              <a:rPr lang="en-US" dirty="0"/>
              <a:t>Skill Gaps: Finding personnel with expertise in both development and security can be difficult</a:t>
            </a:r>
          </a:p>
        </p:txBody>
      </p:sp>
    </p:spTree>
    <p:extLst>
      <p:ext uri="{BB962C8B-B14F-4D97-AF65-F5344CB8AC3E}">
        <p14:creationId xmlns:p14="http://schemas.microsoft.com/office/powerpoint/2010/main" val="160422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devsecops</a:t>
            </a:r>
            <a:r>
              <a:rPr lang="en-US" dirty="0" smtClean="0"/>
              <a:t>-platform (central templates)</a:t>
            </a:r>
          </a:p>
          <a:p>
            <a:endParaRPr lang="en-US" dirty="0" smtClean="0"/>
          </a:p>
          <a:p>
            <a:r>
              <a:rPr lang="en-US" dirty="0" smtClean="0"/>
              <a:t>application-repos (business apps)</a:t>
            </a:r>
          </a:p>
          <a:p>
            <a:endParaRPr lang="en-US" dirty="0" smtClean="0"/>
          </a:p>
          <a:p>
            <a:r>
              <a:rPr lang="en-US" dirty="0" smtClean="0"/>
              <a:t>platform-</a:t>
            </a:r>
            <a:r>
              <a:rPr lang="en-US" dirty="0" err="1" smtClean="0"/>
              <a:t>config</a:t>
            </a:r>
            <a:r>
              <a:rPr lang="en-US" dirty="0" smtClean="0"/>
              <a:t> (policies &amp; governance)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60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6240" y="1961803"/>
            <a:ext cx="4459519" cy="4215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74225" y="6309360"/>
            <a:ext cx="332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azure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3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 — Central </a:t>
            </a:r>
            <a:r>
              <a:rPr lang="en-US" dirty="0" err="1" smtClean="0"/>
              <a:t>DevSecOps</a:t>
            </a:r>
            <a:r>
              <a:rPr lang="en-US" dirty="0" smtClean="0"/>
              <a:t> Platform Repo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 err="1" smtClean="0"/>
              <a:t>devsecops</a:t>
            </a:r>
            <a:r>
              <a:rPr lang="en-US" dirty="0" smtClean="0"/>
              <a:t>-platform</a:t>
            </a:r>
          </a:p>
          <a:p>
            <a:r>
              <a:rPr lang="en-US" dirty="0" smtClean="0"/>
              <a:t>Structure:</a:t>
            </a:r>
          </a:p>
          <a:p>
            <a:r>
              <a:rPr lang="en-US" dirty="0" err="1" smtClean="0"/>
              <a:t>devsecops</a:t>
            </a:r>
            <a:r>
              <a:rPr lang="en-US" dirty="0" smtClean="0"/>
              <a:t>-platform/</a:t>
            </a:r>
          </a:p>
          <a:p>
            <a:endParaRPr lang="en-US" dirty="0" smtClean="0"/>
          </a:p>
          <a:p>
            <a:r>
              <a:rPr lang="en-US" dirty="0" smtClean="0"/>
              <a:t>golden-pipeline/</a:t>
            </a:r>
          </a:p>
          <a:p>
            <a:endParaRPr lang="en-US" dirty="0" smtClean="0"/>
          </a:p>
          <a:p>
            <a:r>
              <a:rPr lang="en-US" dirty="0" smtClean="0"/>
              <a:t>build/</a:t>
            </a:r>
          </a:p>
          <a:p>
            <a:endParaRPr lang="en-US" dirty="0" smtClean="0"/>
          </a:p>
          <a:p>
            <a:r>
              <a:rPr lang="en-US" dirty="0" smtClean="0"/>
              <a:t>security/</a:t>
            </a:r>
          </a:p>
          <a:p>
            <a:endParaRPr lang="en-US" dirty="0" smtClean="0"/>
          </a:p>
          <a:p>
            <a:r>
              <a:rPr lang="en-US" dirty="0" smtClean="0"/>
              <a:t>deployment/</a:t>
            </a:r>
          </a:p>
          <a:p>
            <a:endParaRPr lang="en-US" dirty="0" smtClean="0"/>
          </a:p>
          <a:p>
            <a:r>
              <a:rPr lang="en-US" dirty="0" smtClean="0"/>
              <a:t>governance/</a:t>
            </a:r>
          </a:p>
          <a:p>
            <a:endParaRPr lang="en-US" dirty="0" smtClean="0"/>
          </a:p>
          <a:p>
            <a:r>
              <a:rPr lang="en-US" dirty="0" smtClean="0"/>
              <a:t>scripts/</a:t>
            </a:r>
          </a:p>
          <a:p>
            <a:endParaRPr lang="en-US" dirty="0" smtClean="0"/>
          </a:p>
          <a:p>
            <a:r>
              <a:rPr lang="en-US" dirty="0" smtClean="0"/>
              <a:t>policies/</a:t>
            </a:r>
          </a:p>
          <a:p>
            <a:endParaRPr lang="en-US" dirty="0" smtClean="0"/>
          </a:p>
          <a:p>
            <a:r>
              <a:rPr lang="en-US" dirty="0" smtClean="0"/>
              <a:t>docs/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7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Step 2 — Real Enterprise Folder Structure</a:t>
            </a:r>
            <a:br>
              <a:rPr lang="en-US" b="1" dirty="0" smtClean="0"/>
            </a:br>
            <a:r>
              <a:rPr lang="en-US" dirty="0" smtClean="0"/>
              <a:t>Example: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5833" y="1825625"/>
            <a:ext cx="65203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3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Step 3 — Golden Pipeline (Core of enterprise)</a:t>
            </a:r>
            <a:br>
              <a:rPr lang="en-US" b="1" dirty="0" smtClean="0"/>
            </a:br>
            <a:r>
              <a:rPr lang="en-US" dirty="0" smtClean="0"/>
              <a:t>Golden pipeline example: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0631" y="1825625"/>
            <a:ext cx="59107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18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#################################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 stage: Deploy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jobs: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 deployment: Deploy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environment: ${{parameters.environment}}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strategy: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runOnce: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deploy: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steps: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 template: ../deployment/appservice.yml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parameters: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appName: ${{parameters.appName}}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This is reused by all Java apps.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12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Step 4 — Application Repo Structure</a:t>
            </a:r>
            <a:br>
              <a:rPr lang="en-US" b="1" dirty="0" smtClean="0"/>
            </a:br>
            <a:r>
              <a:rPr lang="en-US" dirty="0" smtClean="0"/>
              <a:t>Example: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customer-service/</a:t>
            </a:r>
          </a:p>
          <a:p>
            <a:endParaRPr lang="en-US" dirty="0" smtClean="0"/>
          </a:p>
          <a:p>
            <a:r>
              <a:rPr lang="en-US" dirty="0" err="1" smtClean="0"/>
              <a:t>src</a:t>
            </a:r>
            <a:r>
              <a:rPr lang="en-US" dirty="0" smtClean="0"/>
              <a:t>/</a:t>
            </a:r>
          </a:p>
          <a:p>
            <a:endParaRPr lang="en-US" dirty="0" smtClean="0"/>
          </a:p>
          <a:p>
            <a:r>
              <a:rPr lang="en-US" dirty="0" smtClean="0"/>
              <a:t>pom.xml</a:t>
            </a:r>
          </a:p>
          <a:p>
            <a:endParaRPr lang="en-US" dirty="0" smtClean="0"/>
          </a:p>
          <a:p>
            <a:r>
              <a:rPr lang="en-US" dirty="0" smtClean="0"/>
              <a:t>azure-</a:t>
            </a:r>
            <a:r>
              <a:rPr lang="en-US" dirty="0" err="1" smtClean="0"/>
              <a:t>pipelines.yml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88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pipeline becomes: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smtClean="0"/>
              <a:t>trigger:</a:t>
            </a:r>
          </a:p>
          <a:p>
            <a:r>
              <a:rPr lang="en-US" dirty="0" smtClean="0"/>
              <a:t>- master</a:t>
            </a:r>
          </a:p>
          <a:p>
            <a:endParaRPr lang="en-US" dirty="0" smtClean="0"/>
          </a:p>
          <a:p>
            <a:r>
              <a:rPr lang="en-US" dirty="0" smtClean="0"/>
              <a:t>resources:</a:t>
            </a:r>
          </a:p>
          <a:p>
            <a:endParaRPr lang="en-US" dirty="0" smtClean="0"/>
          </a:p>
          <a:p>
            <a:r>
              <a:rPr lang="en-US" dirty="0" smtClean="0"/>
              <a:t>  repositories:</a:t>
            </a:r>
          </a:p>
          <a:p>
            <a:endParaRPr lang="en-US" dirty="0" smtClean="0"/>
          </a:p>
          <a:p>
            <a:r>
              <a:rPr lang="en-US" dirty="0" smtClean="0"/>
              <a:t>  - repository: </a:t>
            </a:r>
            <a:r>
              <a:rPr lang="en-US" dirty="0" err="1" smtClean="0"/>
              <a:t>devsecops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type: </a:t>
            </a:r>
            <a:r>
              <a:rPr lang="en-US" dirty="0" err="1" smtClean="0"/>
              <a:t>git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name: </a:t>
            </a:r>
            <a:r>
              <a:rPr lang="en-US" dirty="0" err="1" smtClean="0"/>
              <a:t>devsecops</a:t>
            </a:r>
            <a:r>
              <a:rPr lang="en-US" dirty="0" smtClean="0"/>
              <a:t>-platform</a:t>
            </a:r>
          </a:p>
          <a:p>
            <a:endParaRPr lang="en-US" dirty="0" smtClean="0"/>
          </a:p>
          <a:p>
            <a:r>
              <a:rPr lang="en-US" dirty="0" smtClean="0"/>
              <a:t>extends:</a:t>
            </a:r>
          </a:p>
          <a:p>
            <a:endParaRPr lang="en-US" dirty="0" smtClean="0"/>
          </a:p>
          <a:p>
            <a:r>
              <a:rPr lang="en-US" dirty="0" smtClean="0"/>
              <a:t>  template: golden-pipeline/</a:t>
            </a:r>
            <a:r>
              <a:rPr lang="en-US" dirty="0" err="1" smtClean="0"/>
              <a:t>java-app.yml@devsecops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parameters: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appName</a:t>
            </a:r>
            <a:r>
              <a:rPr lang="en-US" dirty="0" smtClean="0"/>
              <a:t>: customer-dev-app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appId</a:t>
            </a:r>
            <a:r>
              <a:rPr lang="en-US" dirty="0" smtClean="0"/>
              <a:t>: ca72e53b-5bd3-4626-ba24-8d4106cf31c2</a:t>
            </a:r>
          </a:p>
          <a:p>
            <a:endParaRPr lang="en-US" dirty="0" smtClean="0"/>
          </a:p>
          <a:p>
            <a:r>
              <a:rPr lang="en-US" dirty="0" smtClean="0"/>
              <a:t>    environment: 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4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 — Governance Repo (Real Enterprise Pattern)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platform-governance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38200" y="2539356"/>
            <a:ext cx="2776466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approval matrix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security policies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risk thresholds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compliance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security-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policy.yml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coverage: 80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criticalVulnerabilities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 0</a:t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maxCVSS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: 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dirty="0"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>Used by security templates.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39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Step 6 — Enterprise Security Gate Implementation</a:t>
            </a:r>
            <a:br>
              <a:rPr lang="en-US" b="1" dirty="0" smtClean="0"/>
            </a:br>
            <a:r>
              <a:rPr lang="en-US" dirty="0" smtClean="0"/>
              <a:t>Security template reads policy: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parameters: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coverageThreshold: 80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Then enforce: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condition: succeeded()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Fail if violated.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30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parameters: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r>
              <a:rPr lang="en-US" dirty="0" err="1" smtClean="0"/>
              <a:t>appName</a:t>
            </a:r>
            <a:r>
              <a:rPr lang="en-US" dirty="0" smtClean="0"/>
              <a:t>: ''</a:t>
            </a:r>
          </a:p>
          <a:p>
            <a:endParaRPr lang="en-US" dirty="0" smtClean="0"/>
          </a:p>
          <a:p>
            <a:r>
              <a:rPr lang="en-US" dirty="0" smtClean="0"/>
              <a:t>steps:</a:t>
            </a:r>
          </a:p>
          <a:p>
            <a:endParaRPr lang="en-US" dirty="0" smtClean="0"/>
          </a:p>
          <a:p>
            <a:r>
              <a:rPr lang="en-US" dirty="0" smtClean="0"/>
              <a:t>- task: AzureWebApp@1</a:t>
            </a:r>
          </a:p>
          <a:p>
            <a:endParaRPr lang="en-US" dirty="0" smtClean="0"/>
          </a:p>
          <a:p>
            <a:r>
              <a:rPr lang="en-US" dirty="0" smtClean="0"/>
              <a:t>  inputs: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azureSubscription</a:t>
            </a:r>
            <a:r>
              <a:rPr lang="en-US" dirty="0" smtClean="0"/>
              <a:t>: azure-service-connection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appName</a:t>
            </a:r>
            <a:r>
              <a:rPr lang="en-US" dirty="0" smtClean="0"/>
              <a:t>: ${{</a:t>
            </a:r>
            <a:r>
              <a:rPr lang="en-US" dirty="0" err="1" smtClean="0"/>
              <a:t>parameters.appName</a:t>
            </a:r>
            <a:r>
              <a:rPr lang="en-US" dirty="0" smtClean="0"/>
              <a:t>}}</a:t>
            </a:r>
          </a:p>
          <a:p>
            <a:endParaRPr lang="en-US" dirty="0" smtClean="0"/>
          </a:p>
          <a:p>
            <a:r>
              <a:rPr lang="en-US" dirty="0" smtClean="0"/>
              <a:t>    package: '$(</a:t>
            </a:r>
            <a:r>
              <a:rPr lang="en-US" dirty="0" err="1" smtClean="0"/>
              <a:t>Pipeline.Workspace</a:t>
            </a:r>
            <a:r>
              <a:rPr lang="en-US" dirty="0" smtClean="0"/>
              <a:t>)/drop/*.jar'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 — Enterprise Deployment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template: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59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400" b="1" dirty="0" err="1" smtClean="0"/>
              <a:t>Step</a:t>
            </a:r>
            <a:r>
              <a:rPr lang="fr-FR" sz="2400" b="1" dirty="0" smtClean="0"/>
              <a:t> 8 — Enterprise </a:t>
            </a:r>
            <a:r>
              <a:rPr lang="fr-FR" sz="2400" b="1" dirty="0" err="1" smtClean="0"/>
              <a:t>Environment</a:t>
            </a:r>
            <a:r>
              <a:rPr lang="fr-FR" sz="2400" b="1" dirty="0" smtClean="0"/>
              <a:t> Model</a:t>
            </a:r>
            <a:br>
              <a:rPr lang="fr-FR" sz="2400" b="1" dirty="0" smtClean="0"/>
            </a:br>
            <a:r>
              <a:rPr lang="fr-FR" sz="2400" dirty="0" smtClean="0"/>
              <a:t>Azure </a:t>
            </a:r>
            <a:r>
              <a:rPr lang="fr-FR" sz="2400" dirty="0" err="1" smtClean="0"/>
              <a:t>DevOps</a:t>
            </a:r>
            <a:r>
              <a:rPr lang="fr-FR" sz="2400" dirty="0" smtClean="0"/>
              <a:t>:</a:t>
            </a:r>
            <a:br>
              <a:rPr lang="fr-FR" sz="2400" dirty="0" smtClean="0"/>
            </a:br>
            <a:r>
              <a:rPr lang="fr-FR" sz="2400" dirty="0" err="1" smtClean="0"/>
              <a:t>Environments</a:t>
            </a:r>
            <a:r>
              <a:rPr lang="fr-FR" sz="2400" dirty="0" smtClean="0"/>
              <a:t>:</a:t>
            </a:r>
            <a:br>
              <a:rPr lang="fr-FR" sz="2400" dirty="0" smtClean="0"/>
            </a:br>
            <a:endParaRPr lang="en-US" sz="2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Environments: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DEV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UAT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Rules: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Auto deploy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UAT: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QA approval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PROD: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Security + Architect approval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01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Step 9 — Real Enterprise Operating Model</a:t>
            </a:r>
            <a:br>
              <a:rPr lang="en-US" sz="2400" b="1" dirty="0" smtClean="0"/>
            </a:br>
            <a:r>
              <a:rPr lang="en-US" sz="2400" dirty="0" smtClean="0"/>
              <a:t>Team responsibilities: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Team: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Templates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Security tools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Governance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Deployment patterns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74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Team: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Policies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Risk thresholds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Compliance rules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7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Team: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Business code only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83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Step 10 — Multi Application Usage Example</a:t>
            </a:r>
            <a:br>
              <a:rPr lang="en-US" b="1" dirty="0" smtClean="0"/>
            </a:br>
            <a:r>
              <a:rPr lang="en-US" dirty="0" err="1" smtClean="0"/>
              <a:t>Example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Payment Service</a:t>
            </a:r>
          </a:p>
          <a:p>
            <a:endParaRPr lang="en-US" dirty="0" smtClean="0"/>
          </a:p>
          <a:p>
            <a:r>
              <a:rPr lang="en-US" dirty="0" smtClean="0"/>
              <a:t>Customer Service</a:t>
            </a:r>
          </a:p>
          <a:p>
            <a:endParaRPr lang="en-US" dirty="0" smtClean="0"/>
          </a:p>
          <a:p>
            <a:r>
              <a:rPr lang="en-US" dirty="0" smtClean="0"/>
              <a:t>Order Service</a:t>
            </a:r>
          </a:p>
          <a:p>
            <a:endParaRPr lang="en-US" dirty="0" smtClean="0"/>
          </a:p>
          <a:p>
            <a:r>
              <a:rPr lang="en-US" dirty="0" smtClean="0"/>
              <a:t>Inventory Service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6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use: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golden-pipeline/java-app.yml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Only parameters change: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appName: payment-app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appId: xxxx</a:t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environment: DEV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1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Step 11 — Enterprise Release Governance</a:t>
            </a:r>
            <a:br>
              <a:rPr lang="en-US" b="1" dirty="0" smtClean="0"/>
            </a:br>
            <a:r>
              <a:rPr lang="en-US" dirty="0" smtClean="0"/>
              <a:t>Real approval flow: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2874" y="1825625"/>
            <a:ext cx="58862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95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Step 12 — Enterprise Risk Based Deployment</a:t>
            </a:r>
            <a:br>
              <a:rPr lang="en-US" sz="2400" b="1" dirty="0" smtClean="0"/>
            </a:br>
            <a:r>
              <a:rPr lang="en-US" sz="2400" dirty="0" smtClean="0"/>
              <a:t>Advanced organizations calculate risk score:</a:t>
            </a:r>
            <a:br>
              <a:rPr lang="en-US" sz="2400" dirty="0" smtClean="0"/>
            </a:br>
            <a:r>
              <a:rPr lang="en-US" sz="2400" dirty="0" smtClean="0"/>
              <a:t>Example:</a:t>
            </a:r>
            <a:br>
              <a:rPr lang="en-US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Coverage 90% → Risk 1</a:t>
            </a:r>
          </a:p>
          <a:p>
            <a:endParaRPr lang="en-US" dirty="0" smtClean="0"/>
          </a:p>
          <a:p>
            <a:r>
              <a:rPr lang="en-US" dirty="0" smtClean="0"/>
              <a:t>Coverage 60% → Risk 5</a:t>
            </a:r>
          </a:p>
          <a:p>
            <a:endParaRPr lang="en-US" dirty="0" smtClean="0"/>
          </a:p>
          <a:p>
            <a:r>
              <a:rPr lang="en-US" dirty="0" smtClean="0"/>
              <a:t>Critical vulnerability → Risk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09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logic: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Risk &lt;5 → Deploy</a:t>
            </a:r>
          </a:p>
          <a:p>
            <a:endParaRPr lang="en-US" dirty="0" smtClean="0"/>
          </a:p>
          <a:p>
            <a:r>
              <a:rPr lang="en-US" dirty="0" smtClean="0"/>
              <a:t>Risk 5–7 → Approval</a:t>
            </a:r>
          </a:p>
          <a:p>
            <a:endParaRPr lang="en-US" dirty="0" smtClean="0"/>
          </a:p>
          <a:p>
            <a:r>
              <a:rPr lang="en-US" dirty="0" smtClean="0"/>
              <a:t>Risk &gt;7 → 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916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Step 13 — Enterprise Observability Integration</a:t>
            </a:r>
            <a:br>
              <a:rPr lang="en-US" sz="2800" b="1" dirty="0" smtClean="0"/>
            </a:br>
            <a:r>
              <a:rPr lang="en-US" sz="2800" dirty="0" smtClean="0"/>
              <a:t>After deploy:</a:t>
            </a:r>
            <a:br>
              <a:rPr lang="en-US" sz="2800" dirty="0" smtClean="0"/>
            </a:br>
            <a:r>
              <a:rPr lang="en-US" sz="2800" dirty="0" smtClean="0"/>
              <a:t>Run: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Health check</a:t>
            </a:r>
          </a:p>
          <a:p>
            <a:endParaRPr lang="en-US" dirty="0" smtClean="0"/>
          </a:p>
          <a:p>
            <a:r>
              <a:rPr lang="en-US" dirty="0" smtClean="0"/>
              <a:t>Smoke test</a:t>
            </a:r>
          </a:p>
          <a:p>
            <a:endParaRPr lang="en-US" dirty="0" smtClean="0"/>
          </a:p>
          <a:p>
            <a:r>
              <a:rPr lang="en-US" dirty="0" smtClean="0"/>
              <a:t>Monitoring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4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146700"/>
            <a:ext cx="1813317" cy="1709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script: curl app-</a:t>
            </a:r>
            <a:r>
              <a:rPr kumimoji="0" lang="en-US" altLang="en-US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url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/health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en-US" sz="1000" dirty="0">
              <a:latin typeface="Arial Unicode MS" panose="020B0604020202020204" pitchFamily="34" charset="-128"/>
            </a:endParaRPr>
          </a:p>
          <a:p>
            <a:r>
              <a:rPr lang="en-US" sz="1800" dirty="0" smtClean="0"/>
              <a:t>If fails:</a:t>
            </a:r>
          </a:p>
          <a:p>
            <a:r>
              <a:rPr lang="en-US" sz="1800" dirty="0" smtClean="0"/>
              <a:t>Rollback.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10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Step 14 — Enterprise Platform Evolution Roadmap</a:t>
            </a:r>
            <a:br>
              <a:rPr lang="en-US" sz="2000" b="1" dirty="0" smtClean="0"/>
            </a:br>
            <a:r>
              <a:rPr lang="en-US" sz="2000" dirty="0" smtClean="0"/>
              <a:t>Typical maturity journey: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1: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CI/CD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Year 2: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Security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Year 3: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Shared templates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Year 4: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Golden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Year 5:</a:t>
            </a:r>
            <a:endParaRPr kumimoji="0" lang="en-US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Internal Developer Platform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96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Step 15 — Real Enterprise </a:t>
            </a:r>
            <a:r>
              <a:rPr lang="en-US" sz="2400" b="1" dirty="0" err="1" smtClean="0"/>
              <a:t>DevSecOps</a:t>
            </a:r>
            <a:r>
              <a:rPr lang="en-US" sz="2400" b="1" dirty="0" smtClean="0"/>
              <a:t> Platform Components</a:t>
            </a:r>
            <a:br>
              <a:rPr lang="en-US" sz="2400" b="1" dirty="0" smtClean="0"/>
            </a:br>
            <a:r>
              <a:rPr lang="en-US" sz="2400" dirty="0" smtClean="0"/>
              <a:t>Final platform contains:</a:t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469" y="2519950"/>
            <a:ext cx="5811061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36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Step 16 — Real Company Implementation Pattern</a:t>
            </a:r>
            <a:br>
              <a:rPr lang="en-US" sz="2400" b="1" dirty="0" smtClean="0"/>
            </a:br>
            <a:r>
              <a:rPr lang="en-US" sz="2400" dirty="0" smtClean="0"/>
              <a:t>Typical enterprise:</a:t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783" y="1915028"/>
            <a:ext cx="9202434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44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will support 50 to </a:t>
            </a:r>
            <a:r>
              <a:rPr lang="en-US" smtClean="0"/>
              <a:t>60 apps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8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851</Words>
  <Application>Microsoft Office PowerPoint</Application>
  <PresentationFormat>Widescreen</PresentationFormat>
  <Paragraphs>191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 Unicode MS</vt:lpstr>
      <vt:lpstr>Arial</vt:lpstr>
      <vt:lpstr>Calibri</vt:lpstr>
      <vt:lpstr>Calibri Light</vt:lpstr>
      <vt:lpstr>Office Theme</vt:lpstr>
      <vt:lpstr>Enterprise DevSecOps Implementation Model</vt:lpstr>
      <vt:lpstr>Shared Responsibility</vt:lpstr>
      <vt:lpstr>Core Principles of the Shared Responsibility Model</vt:lpstr>
      <vt:lpstr>Responsibilities by Team </vt:lpstr>
      <vt:lpstr>Why the Shared Responsibility Model Matters </vt:lpstr>
      <vt:lpstr>DevSecOps and Cloud Security </vt:lpstr>
      <vt:lpstr>Common Challenges</vt:lpstr>
      <vt:lpstr>PowerPoint Presentation</vt:lpstr>
      <vt:lpstr>Architecture:</vt:lpstr>
      <vt:lpstr>Step 1 — Central DevSecOps Platform Repo</vt:lpstr>
      <vt:lpstr>Step 2 — Real Enterprise Folder Structure Example: </vt:lpstr>
      <vt:lpstr>Step 3 — Golden Pipeline (Core of enterprise) Golden pipeline example: </vt:lpstr>
      <vt:lpstr>PowerPoint Presentation</vt:lpstr>
      <vt:lpstr>Step 4 — Application Repo Structure Example: </vt:lpstr>
      <vt:lpstr>Application pipeline becomes:</vt:lpstr>
      <vt:lpstr>Step 5 — Governance Repo (Real Enterprise Pattern) Create: platform-governance</vt:lpstr>
      <vt:lpstr>Step 6 — Enterprise Security Gate Implementation Security template reads policy: </vt:lpstr>
      <vt:lpstr>Step 7 — Enterprise Deployment Model Deployment template: </vt:lpstr>
      <vt:lpstr>Step 8 — Enterprise Environment Model Azure DevOps: Environments: </vt:lpstr>
      <vt:lpstr>Step 9 — Real Enterprise Operating Model Team responsibilities:  </vt:lpstr>
      <vt:lpstr>PowerPoint Presentation</vt:lpstr>
      <vt:lpstr>PowerPoint Presentation</vt:lpstr>
      <vt:lpstr>Step 10 — Multi Application Usage Example Example: </vt:lpstr>
      <vt:lpstr>PowerPoint Presentation</vt:lpstr>
      <vt:lpstr>Step 11 — Enterprise Release Governance Real approval flow: </vt:lpstr>
      <vt:lpstr>Step 12 — Enterprise Risk Based Deployment Advanced organizations calculate risk score: Example: </vt:lpstr>
      <vt:lpstr>Pipeline logic:</vt:lpstr>
      <vt:lpstr>Step 13 — Enterprise Observability Integration After deploy: Run: </vt:lpstr>
      <vt:lpstr>PowerPoint Presentation</vt:lpstr>
      <vt:lpstr>Step 14 — Enterprise Platform Evolution Roadmap Typical maturity journey: </vt:lpstr>
      <vt:lpstr>Step 15 — Real Enterprise DevSecOps Platform Components Final platform contains: </vt:lpstr>
      <vt:lpstr>Step 16 — Real Company Implementation Pattern Typical enterprise: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DevSecOps Implementation Model</dc:title>
  <dc:creator>Microsoft account</dc:creator>
  <cp:lastModifiedBy>Microsoft account</cp:lastModifiedBy>
  <cp:revision>5</cp:revision>
  <dcterms:created xsi:type="dcterms:W3CDTF">2026-03-11T14:56:58Z</dcterms:created>
  <dcterms:modified xsi:type="dcterms:W3CDTF">2026-03-12T14:50:09Z</dcterms:modified>
</cp:coreProperties>
</file>